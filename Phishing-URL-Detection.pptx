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5" r:id="rId10"/>
    <p:sldId id="264" r:id="rId11"/>
  </p:sldIdLst>
  <p:sldSz cx="9144000" cy="5143500" type="screen16x9"/>
  <p:notesSz cx="5143500" cy="9144000"/>
  <p:embeddedFontLst>
    <p:embeddedFont>
      <p:font typeface="Kanit Light" panose="020B0604020202020204" charset="-34"/>
      <p:regular r:id="rId13"/>
    </p:embeddedFont>
    <p:embeddedFont>
      <p:font typeface="Martel Sans" panose="020B0604020202020204" charset="0"/>
      <p:regular r:id="rId14"/>
    </p:embeddedFont>
    <p:embeddedFont>
      <p:font typeface="Martel Sans Bold" panose="020B0604020202020204" charset="0"/>
      <p:regular r:id="rId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58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97676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BF4F3"/>
          </a:solidFill>
          <a:ln/>
        </p:spPr>
      </p:sp>
      <p:sp>
        <p:nvSpPr>
          <p:cNvPr id="3" name="Shape 1"/>
          <p:cNvSpPr/>
          <p:nvPr/>
        </p:nvSpPr>
        <p:spPr>
          <a:xfrm>
            <a:off x="0" y="0"/>
            <a:ext cx="9144000" cy="5143500"/>
          </a:xfrm>
          <a:prstGeom prst="rect">
            <a:avLst/>
          </a:prstGeom>
          <a:solidFill>
            <a:srgbClr val="272D45"/>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7"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96119" y="891183"/>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FFFFFF"/>
                </a:solidFill>
                <a:latin typeface="Kanit Light" pitchFamily="34" charset="0"/>
                <a:ea typeface="Kanit Light" pitchFamily="34" charset="-122"/>
                <a:cs typeface="Kanit Light" pitchFamily="34" charset="-120"/>
              </a:rPr>
              <a:t>Phishing Link Detection System</a:t>
            </a:r>
            <a:endParaRPr lang="en-US" sz="2750" dirty="0"/>
          </a:p>
        </p:txBody>
      </p:sp>
      <p:sp>
        <p:nvSpPr>
          <p:cNvPr id="3" name="Text 1"/>
          <p:cNvSpPr/>
          <p:nvPr/>
        </p:nvSpPr>
        <p:spPr>
          <a:xfrm>
            <a:off x="496119" y="1390873"/>
            <a:ext cx="8151763" cy="221456"/>
          </a:xfrm>
          <a:prstGeom prst="rect">
            <a:avLst/>
          </a:prstGeom>
          <a:noFill/>
          <a:ln/>
        </p:spPr>
        <p:txBody>
          <a:bodyPr wrap="none" lIns="0" tIns="0" rIns="0" bIns="0" rtlCol="0" anchor="t"/>
          <a:lstStyle/>
          <a:p>
            <a:pPr marL="0" indent="0" algn="l">
              <a:lnSpc>
                <a:spcPct val="104000"/>
              </a:lnSpc>
              <a:buNone/>
            </a:pPr>
            <a:r>
              <a:rPr lang="en-US" sz="1350" dirty="0">
                <a:solidFill>
                  <a:srgbClr val="FFFFFF"/>
                </a:solidFill>
                <a:latin typeface="Kanit Light" pitchFamily="34" charset="0"/>
                <a:ea typeface="Kanit Light" pitchFamily="34" charset="-122"/>
                <a:cs typeface="Kanit Light" pitchFamily="34" charset="-120"/>
              </a:rPr>
              <a:t>Machine Learning-Based Cybersecurity Solution for Detecting Malicious URLs</a:t>
            </a:r>
            <a:endParaRPr lang="en-US" sz="1350" dirty="0"/>
          </a:p>
        </p:txBody>
      </p:sp>
      <p:sp>
        <p:nvSpPr>
          <p:cNvPr id="4" name="Text 2"/>
          <p:cNvSpPr/>
          <p:nvPr/>
        </p:nvSpPr>
        <p:spPr>
          <a:xfrm>
            <a:off x="496119" y="1824930"/>
            <a:ext cx="8151763"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FFFFFF"/>
                </a:solidFill>
                <a:latin typeface="Martel Sans" pitchFamily="34" charset="0"/>
                <a:ea typeface="Martel Sans" pitchFamily="34" charset="-122"/>
                <a:cs typeface="Martel Sans" pitchFamily="34" charset="-120"/>
              </a:rPr>
              <a:t>Phishing attacks continue to be one of the most common cyber threats, targeting individuals and organizations through deceptive websites and malicious links. This project presents an intelligent machine learning system designed to analyze URL characteristics and accurately identify phishing attempts before users interact with harmful websites.</a:t>
            </a:r>
            <a:endParaRPr lang="en-US" sz="1100" dirty="0"/>
          </a:p>
        </p:txBody>
      </p:sp>
      <p:sp>
        <p:nvSpPr>
          <p:cNvPr id="5" name="Text 3"/>
          <p:cNvSpPr/>
          <p:nvPr/>
        </p:nvSpPr>
        <p:spPr>
          <a:xfrm>
            <a:off x="496119" y="2717974"/>
            <a:ext cx="8151763" cy="265807"/>
          </a:xfrm>
          <a:prstGeom prst="rect">
            <a:avLst/>
          </a:prstGeom>
          <a:noFill/>
          <a:ln/>
        </p:spPr>
        <p:txBody>
          <a:bodyPr wrap="none" lIns="0" tIns="0" rIns="0" bIns="0" rtlCol="0" anchor="t"/>
          <a:lstStyle/>
          <a:p>
            <a:pPr marL="0" indent="0" algn="l">
              <a:lnSpc>
                <a:spcPct val="104000"/>
              </a:lnSpc>
              <a:buNone/>
            </a:pPr>
            <a:r>
              <a:rPr lang="en-US" sz="1650" dirty="0">
                <a:solidFill>
                  <a:srgbClr val="FFFFFF"/>
                </a:solidFill>
                <a:latin typeface="Kanit Light" pitchFamily="34" charset="0"/>
                <a:ea typeface="Kanit Light" pitchFamily="34" charset="-122"/>
                <a:cs typeface="Kanit Light" pitchFamily="34" charset="-120"/>
              </a:rPr>
              <a:t>Presented By – Group 5</a:t>
            </a:r>
            <a:endParaRPr lang="en-US" sz="1650" dirty="0"/>
          </a:p>
        </p:txBody>
      </p:sp>
      <p:sp>
        <p:nvSpPr>
          <p:cNvPr id="6" name="Text 4"/>
          <p:cNvSpPr/>
          <p:nvPr/>
        </p:nvSpPr>
        <p:spPr>
          <a:xfrm>
            <a:off x="496119" y="3196382"/>
            <a:ext cx="8151763" cy="1055936"/>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FFFFFF"/>
                </a:solidFill>
                <a:latin typeface="Martel Sans" pitchFamily="34" charset="0"/>
                <a:ea typeface="Martel Sans" pitchFamily="34" charset="-122"/>
                <a:cs typeface="Martel Sans" pitchFamily="34" charset="-120"/>
              </a:rPr>
              <a:t>Ziad Mamoun Awad Abu Zeid</a:t>
            </a:r>
            <a:endParaRPr lang="en-US" sz="1100" dirty="0"/>
          </a:p>
          <a:p>
            <a:pPr marL="223520" indent="-223520" algn="l">
              <a:lnSpc>
                <a:spcPct val="133000"/>
              </a:lnSpc>
              <a:buSzPct val="100000"/>
              <a:buChar char="•"/>
            </a:pPr>
            <a:r>
              <a:rPr lang="en-US" sz="1100" dirty="0">
                <a:solidFill>
                  <a:srgbClr val="FFFFFF"/>
                </a:solidFill>
                <a:latin typeface="Martel Sans" pitchFamily="34" charset="0"/>
                <a:ea typeface="Martel Sans" pitchFamily="34" charset="-122"/>
                <a:cs typeface="Martel Sans" pitchFamily="34" charset="-120"/>
              </a:rPr>
              <a:t>Abdelrahman Hossam Youssef Mohamed</a:t>
            </a:r>
            <a:endParaRPr lang="en-US" sz="1100" dirty="0"/>
          </a:p>
          <a:p>
            <a:pPr marL="223520" indent="-223520" algn="l">
              <a:lnSpc>
                <a:spcPct val="133000"/>
              </a:lnSpc>
              <a:buSzPct val="100000"/>
              <a:buChar char="•"/>
            </a:pPr>
            <a:r>
              <a:rPr lang="en-US" sz="1100" dirty="0">
                <a:solidFill>
                  <a:srgbClr val="FFFFFF"/>
                </a:solidFill>
                <a:latin typeface="Martel Sans" pitchFamily="34" charset="0"/>
                <a:ea typeface="Martel Sans" pitchFamily="34" charset="-122"/>
                <a:cs typeface="Martel Sans" pitchFamily="34" charset="-120"/>
              </a:rPr>
              <a:t>Malak Khaled Abou Elmagd Ali</a:t>
            </a:r>
            <a:endParaRPr lang="en-US" sz="1100" dirty="0"/>
          </a:p>
          <a:p>
            <a:pPr marL="223520" indent="-223520" algn="l">
              <a:lnSpc>
                <a:spcPct val="133000"/>
              </a:lnSpc>
              <a:buSzPct val="100000"/>
              <a:buChar char="•"/>
            </a:pPr>
            <a:r>
              <a:rPr lang="en-US" sz="1100" dirty="0">
                <a:solidFill>
                  <a:srgbClr val="FFFFFF"/>
                </a:solidFill>
                <a:latin typeface="Martel Sans" pitchFamily="34" charset="0"/>
                <a:ea typeface="Martel Sans" pitchFamily="34" charset="-122"/>
                <a:cs typeface="Martel Sans" pitchFamily="34" charset="-120"/>
              </a:rPr>
              <a:t>Somia Rashad Ahmed Rashad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1129382"/>
            <a:ext cx="8151763" cy="354360"/>
          </a:xfrm>
          <a:prstGeom prst="rect">
            <a:avLst/>
          </a:prstGeom>
          <a:noFill/>
          <a:ln/>
        </p:spPr>
        <p:txBody>
          <a:bodyPr wrap="none" lIns="0" tIns="0" rIns="0" bIns="0" rtlCol="0" anchor="t"/>
          <a:lstStyle/>
          <a:p>
            <a:pPr marL="0" indent="0" algn="l">
              <a:lnSpc>
                <a:spcPct val="104000"/>
              </a:lnSpc>
              <a:buNone/>
            </a:pPr>
            <a:r>
              <a:rPr lang="en-US" sz="2200" dirty="0">
                <a:solidFill>
                  <a:srgbClr val="FFFFFF"/>
                </a:solidFill>
                <a:latin typeface="Kanit Light" pitchFamily="34" charset="0"/>
                <a:ea typeface="Kanit Light" pitchFamily="34" charset="-122"/>
                <a:cs typeface="Kanit Light" pitchFamily="34" charset="-120"/>
              </a:rPr>
              <a:t>Problem Statement</a:t>
            </a:r>
            <a:endParaRPr lang="en-US" sz="2200" dirty="0"/>
          </a:p>
        </p:txBody>
      </p:sp>
      <p:sp>
        <p:nvSpPr>
          <p:cNvPr id="3" name="Text 1"/>
          <p:cNvSpPr/>
          <p:nvPr/>
        </p:nvSpPr>
        <p:spPr>
          <a:xfrm>
            <a:off x="496119" y="1767260"/>
            <a:ext cx="8151763" cy="1293540"/>
          </a:xfrm>
          <a:prstGeom prst="rect">
            <a:avLst/>
          </a:prstGeom>
          <a:noFill/>
          <a:ln/>
        </p:spPr>
        <p:txBody>
          <a:bodyPr wrap="square" lIns="0" tIns="0" rIns="0" bIns="0" rtlCol="0" anchor="t">
            <a:normAutofit/>
          </a:bodyPr>
          <a:lstStyle/>
          <a:p>
            <a:pPr marL="0" indent="0" algn="l">
              <a:lnSpc>
                <a:spcPct val="133000"/>
              </a:lnSpc>
              <a:spcAft>
                <a:spcPts val="1250"/>
              </a:spcAft>
              <a:buNone/>
            </a:pPr>
            <a:r>
              <a:rPr lang="en-US" sz="1100" dirty="0">
                <a:solidFill>
                  <a:srgbClr val="FFFFFF"/>
                </a:solidFill>
                <a:latin typeface="Martel Sans" pitchFamily="34" charset="0"/>
                <a:ea typeface="Martel Sans" pitchFamily="34" charset="-122"/>
                <a:cs typeface="Martel Sans" pitchFamily="34" charset="-120"/>
              </a:rPr>
              <a:t>Phishing attacks using deceptive URLs are increasing rapidly and have become a major cybersecurity challenge. These attacks aim to steal user credentials, financial information, and sensitive organizational data by tricking users into visiting fraudulent websites.</a:t>
            </a:r>
            <a:endParaRPr lang="en-US" sz="1100" dirty="0"/>
          </a:p>
          <a:p>
            <a:pPr marL="0" indent="0" algn="l">
              <a:lnSpc>
                <a:spcPct val="133000"/>
              </a:lnSpc>
              <a:buNone/>
            </a:pPr>
            <a:r>
              <a:rPr lang="en-US" sz="1100" dirty="0">
                <a:solidFill>
                  <a:srgbClr val="FFFFFF"/>
                </a:solidFill>
                <a:latin typeface="Martel Sans" pitchFamily="34" charset="0"/>
                <a:ea typeface="Martel Sans" pitchFamily="34" charset="-122"/>
                <a:cs typeface="Martel Sans" pitchFamily="34" charset="-120"/>
              </a:rPr>
              <a:t>Traditional detection methods often struggle to keep pace with evolving phishing techniques. Therefore, there is a need for an automated and intelligent solution capable of identifying malicious URLs with high accuracy and reliability.</a:t>
            </a:r>
            <a:endParaRPr lang="en-US" sz="1100" dirty="0"/>
          </a:p>
        </p:txBody>
      </p:sp>
      <p:sp>
        <p:nvSpPr>
          <p:cNvPr id="4" name="Shape 2"/>
          <p:cNvSpPr/>
          <p:nvPr/>
        </p:nvSpPr>
        <p:spPr>
          <a:xfrm>
            <a:off x="496119" y="3220269"/>
            <a:ext cx="8151763" cy="793775"/>
          </a:xfrm>
          <a:prstGeom prst="roundRect">
            <a:avLst>
              <a:gd name="adj" fmla="val 7501"/>
            </a:avLst>
          </a:prstGeom>
          <a:solidFill>
            <a:srgbClr val="305049"/>
          </a:solidFill>
          <a:ln/>
        </p:spPr>
      </p:sp>
      <p:pic>
        <p:nvPicPr>
          <p:cNvPr id="5" name="Image 0" descr="preencoded.png"/>
          <p:cNvPicPr>
            <a:picLocks noChangeAspect="1"/>
          </p:cNvPicPr>
          <p:nvPr/>
        </p:nvPicPr>
        <p:blipFill>
          <a:blip r:embed="rId3"/>
          <a:stretch>
            <a:fillRect/>
          </a:stretch>
        </p:blipFill>
        <p:spPr>
          <a:xfrm>
            <a:off x="637877" y="3421038"/>
            <a:ext cx="177180" cy="141759"/>
          </a:xfrm>
          <a:prstGeom prst="rect">
            <a:avLst/>
          </a:prstGeom>
        </p:spPr>
      </p:pic>
      <p:sp>
        <p:nvSpPr>
          <p:cNvPr id="6" name="Text 3"/>
          <p:cNvSpPr/>
          <p:nvPr/>
        </p:nvSpPr>
        <p:spPr>
          <a:xfrm>
            <a:off x="956816" y="3397448"/>
            <a:ext cx="7549307"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FFFFFF"/>
                </a:solidFill>
                <a:latin typeface="Martel Sans" pitchFamily="34" charset="0"/>
                <a:ea typeface="Martel Sans" pitchFamily="34" charset="-122"/>
                <a:cs typeface="Martel Sans" pitchFamily="34" charset="-120"/>
              </a:rPr>
              <a:t>Develop a machine learning-based phishing detection system that can accurately distinguish legitimate URLs from phishing URLs while minimizing false positives and false negatives.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391567"/>
            <a:ext cx="8151763" cy="304502"/>
          </a:xfrm>
          <a:prstGeom prst="rect">
            <a:avLst/>
          </a:prstGeom>
          <a:noFill/>
          <a:ln/>
        </p:spPr>
        <p:txBody>
          <a:bodyPr wrap="none" lIns="0" tIns="0" rIns="0" bIns="0" rtlCol="0" anchor="t"/>
          <a:lstStyle/>
          <a:p>
            <a:pPr marL="0" indent="0" algn="l">
              <a:lnSpc>
                <a:spcPct val="104000"/>
              </a:lnSpc>
              <a:buNone/>
            </a:pPr>
            <a:r>
              <a:rPr lang="en-US" sz="1900" dirty="0">
                <a:solidFill>
                  <a:srgbClr val="FFFFFF"/>
                </a:solidFill>
                <a:latin typeface="Kanit Light" pitchFamily="34" charset="0"/>
                <a:ea typeface="Kanit Light" pitchFamily="34" charset="-122"/>
                <a:cs typeface="Kanit Light" pitchFamily="34" charset="-120"/>
              </a:rPr>
              <a:t>Dataset &amp; Methodology</a:t>
            </a:r>
            <a:endParaRPr lang="en-US" sz="190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905396"/>
            <a:ext cx="2647504" cy="2968079"/>
          </a:xfrm>
          <a:prstGeom prst="rect">
            <a:avLst/>
          </a:prstGeom>
        </p:spPr>
      </p:pic>
      <p:sp>
        <p:nvSpPr>
          <p:cNvPr id="4" name="Text 1"/>
          <p:cNvSpPr/>
          <p:nvPr/>
        </p:nvSpPr>
        <p:spPr>
          <a:xfrm>
            <a:off x="632222" y="1389757"/>
            <a:ext cx="2375297" cy="190351"/>
          </a:xfrm>
          <a:prstGeom prst="rect">
            <a:avLst/>
          </a:prstGeom>
          <a:noFill/>
          <a:ln/>
        </p:spPr>
        <p:txBody>
          <a:bodyPr wrap="none" lIns="0" tIns="0" rIns="0" bIns="0" rtlCol="0" anchor="t"/>
          <a:lstStyle/>
          <a:p>
            <a:pPr marL="0" indent="0" algn="l">
              <a:lnSpc>
                <a:spcPct val="104000"/>
              </a:lnSpc>
              <a:buNone/>
            </a:pPr>
            <a:r>
              <a:rPr lang="en-US" sz="1150" dirty="0">
                <a:solidFill>
                  <a:srgbClr val="FFFFFF"/>
                </a:solidFill>
                <a:latin typeface="Kanit Light" pitchFamily="34" charset="0"/>
                <a:ea typeface="Kanit Light" pitchFamily="34" charset="-122"/>
                <a:cs typeface="Kanit Light" pitchFamily="34" charset="-120"/>
              </a:rPr>
              <a:t>Dataset</a:t>
            </a:r>
            <a:endParaRPr lang="en-US" sz="1150" dirty="0"/>
          </a:p>
        </p:txBody>
      </p:sp>
      <p:sp>
        <p:nvSpPr>
          <p:cNvPr id="5" name="Text 2"/>
          <p:cNvSpPr/>
          <p:nvPr/>
        </p:nvSpPr>
        <p:spPr>
          <a:xfrm>
            <a:off x="632222" y="1642914"/>
            <a:ext cx="2375297" cy="1197025"/>
          </a:xfrm>
          <a:prstGeom prst="rect">
            <a:avLst/>
          </a:prstGeom>
          <a:noFill/>
          <a:ln/>
        </p:spPr>
        <p:txBody>
          <a:bodyPr wrap="square" lIns="0" tIns="0" rIns="0" bIns="0" rtlCol="0" anchor="t">
            <a:normAutofit/>
          </a:bodyPr>
          <a:lstStyle/>
          <a:p>
            <a:pPr marL="193040" indent="-193040" algn="l">
              <a:lnSpc>
                <a:spcPct val="124000"/>
              </a:lnSpc>
              <a:buSzPct val="100000"/>
              <a:buChar char="•"/>
            </a:pPr>
            <a:r>
              <a:rPr lang="en-US" sz="950" dirty="0">
                <a:solidFill>
                  <a:srgbClr val="FFFFFF"/>
                </a:solidFill>
                <a:latin typeface="Martel Sans" pitchFamily="34" charset="0"/>
                <a:ea typeface="Martel Sans" pitchFamily="34" charset="-122"/>
                <a:cs typeface="Martel Sans" pitchFamily="34" charset="-120"/>
              </a:rPr>
              <a:t>Dataset Size: 2,286 labeled URL samples</a:t>
            </a:r>
            <a:endParaRPr lang="en-US" sz="950" dirty="0"/>
          </a:p>
          <a:p>
            <a:pPr marL="193040" indent="-193040" algn="l">
              <a:lnSpc>
                <a:spcPct val="124000"/>
              </a:lnSpc>
              <a:buSzPct val="100000"/>
              <a:buChar char="•"/>
            </a:pPr>
            <a:r>
              <a:rPr lang="en-US" sz="950" dirty="0">
                <a:solidFill>
                  <a:srgbClr val="FFFFFF"/>
                </a:solidFill>
                <a:latin typeface="Martel Sans" pitchFamily="34" charset="0"/>
                <a:ea typeface="Martel Sans" pitchFamily="34" charset="-122"/>
                <a:cs typeface="Martel Sans" pitchFamily="34" charset="-120"/>
              </a:rPr>
              <a:t>Legitimate URLs: 1,143</a:t>
            </a:r>
            <a:endParaRPr lang="en-US" sz="950" dirty="0"/>
          </a:p>
          <a:p>
            <a:pPr marL="193040" indent="-193040" algn="l">
              <a:lnSpc>
                <a:spcPct val="124000"/>
              </a:lnSpc>
              <a:buSzPct val="100000"/>
              <a:buChar char="•"/>
            </a:pPr>
            <a:r>
              <a:rPr lang="en-US" sz="950" dirty="0">
                <a:solidFill>
                  <a:srgbClr val="FFFFFF"/>
                </a:solidFill>
                <a:latin typeface="Martel Sans" pitchFamily="34" charset="0"/>
                <a:ea typeface="Martel Sans" pitchFamily="34" charset="-122"/>
                <a:cs typeface="Martel Sans" pitchFamily="34" charset="-120"/>
              </a:rPr>
              <a:t>Phishing URLs: 1,143</a:t>
            </a:r>
            <a:endParaRPr lang="en-US" sz="950" dirty="0"/>
          </a:p>
          <a:p>
            <a:pPr marL="193040" indent="-193040" algn="l">
              <a:lnSpc>
                <a:spcPct val="124000"/>
              </a:lnSpc>
              <a:buSzPct val="100000"/>
              <a:buChar char="•"/>
            </a:pPr>
            <a:r>
              <a:rPr lang="en-US" sz="950" dirty="0">
                <a:solidFill>
                  <a:srgbClr val="FFFFFF"/>
                </a:solidFill>
                <a:latin typeface="Martel Sans" pitchFamily="34" charset="0"/>
                <a:ea typeface="Martel Sans" pitchFamily="34" charset="-122"/>
                <a:cs typeface="Martel Sans" pitchFamily="34" charset="-120"/>
              </a:rPr>
              <a:t>Balanced dataset to prevent classification bias</a:t>
            </a:r>
            <a:endParaRPr lang="en-US" sz="9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48248" y="905396"/>
            <a:ext cx="2647504" cy="2968079"/>
          </a:xfrm>
          <a:prstGeom prst="rect">
            <a:avLst/>
          </a:prstGeom>
        </p:spPr>
      </p:pic>
      <p:sp>
        <p:nvSpPr>
          <p:cNvPr id="7" name="Text 3"/>
          <p:cNvSpPr/>
          <p:nvPr/>
        </p:nvSpPr>
        <p:spPr>
          <a:xfrm>
            <a:off x="3384352" y="1389757"/>
            <a:ext cx="2375297" cy="190351"/>
          </a:xfrm>
          <a:prstGeom prst="rect">
            <a:avLst/>
          </a:prstGeom>
          <a:noFill/>
          <a:ln/>
        </p:spPr>
        <p:txBody>
          <a:bodyPr wrap="none" lIns="0" tIns="0" rIns="0" bIns="0" rtlCol="0" anchor="t"/>
          <a:lstStyle/>
          <a:p>
            <a:pPr marL="0" indent="0" algn="l">
              <a:lnSpc>
                <a:spcPct val="104000"/>
              </a:lnSpc>
              <a:buNone/>
            </a:pPr>
            <a:r>
              <a:rPr lang="en-US" sz="1150" dirty="0">
                <a:solidFill>
                  <a:srgbClr val="FFFFFF"/>
                </a:solidFill>
                <a:latin typeface="Kanit Light" pitchFamily="34" charset="0"/>
                <a:ea typeface="Kanit Light" pitchFamily="34" charset="-122"/>
                <a:cs typeface="Kanit Light" pitchFamily="34" charset="-120"/>
              </a:rPr>
              <a:t>Feature Extraction</a:t>
            </a:r>
            <a:endParaRPr lang="en-US" sz="1150" dirty="0"/>
          </a:p>
        </p:txBody>
      </p:sp>
      <p:sp>
        <p:nvSpPr>
          <p:cNvPr id="8" name="Text 4"/>
          <p:cNvSpPr/>
          <p:nvPr/>
        </p:nvSpPr>
        <p:spPr>
          <a:xfrm>
            <a:off x="3384352" y="1642914"/>
            <a:ext cx="2375297" cy="543595"/>
          </a:xfrm>
          <a:prstGeom prst="rect">
            <a:avLst/>
          </a:prstGeom>
          <a:noFill/>
          <a:ln/>
        </p:spPr>
        <p:txBody>
          <a:bodyPr wrap="square" lIns="0" tIns="0" rIns="0" bIns="0" rtlCol="0" anchor="t">
            <a:normAutofit/>
          </a:bodyPr>
          <a:lstStyle/>
          <a:p>
            <a:pPr marL="0" indent="0" algn="l">
              <a:lnSpc>
                <a:spcPct val="124000"/>
              </a:lnSpc>
              <a:buNone/>
            </a:pPr>
            <a:r>
              <a:rPr lang="en-US" sz="950" dirty="0">
                <a:solidFill>
                  <a:srgbClr val="FFFFFF"/>
                </a:solidFill>
                <a:latin typeface="Martel Sans" pitchFamily="34" charset="0"/>
                <a:ea typeface="Martel Sans" pitchFamily="34" charset="-122"/>
                <a:cs typeface="Martel Sans" pitchFamily="34" charset="-120"/>
              </a:rPr>
              <a:t>The system extracts multiple URL-based features to identify suspicious patterns, including:</a:t>
            </a:r>
            <a:endParaRPr lang="en-US" sz="950" dirty="0"/>
          </a:p>
        </p:txBody>
      </p:sp>
      <p:sp>
        <p:nvSpPr>
          <p:cNvPr id="9" name="Text 5"/>
          <p:cNvSpPr/>
          <p:nvPr/>
        </p:nvSpPr>
        <p:spPr>
          <a:xfrm>
            <a:off x="3384352" y="2249314"/>
            <a:ext cx="2375297" cy="1488058"/>
          </a:xfrm>
          <a:prstGeom prst="rect">
            <a:avLst/>
          </a:prstGeom>
          <a:noFill/>
          <a:ln/>
        </p:spPr>
        <p:txBody>
          <a:bodyPr wrap="square" lIns="0" tIns="0" rIns="0" bIns="0" rtlCol="0" anchor="t">
            <a:normAutofit/>
          </a:bodyPr>
          <a:lstStyle/>
          <a:p>
            <a:pPr marL="193040" indent="-193040" algn="l">
              <a:lnSpc>
                <a:spcPct val="124000"/>
              </a:lnSpc>
              <a:buSzPct val="100000"/>
              <a:buChar char="•"/>
            </a:pPr>
            <a:r>
              <a:rPr lang="en-US" sz="950" dirty="0">
                <a:solidFill>
                  <a:srgbClr val="FFFFFF"/>
                </a:solidFill>
                <a:latin typeface="Martel Sans" pitchFamily="34" charset="0"/>
                <a:ea typeface="Martel Sans" pitchFamily="34" charset="-122"/>
                <a:cs typeface="Martel Sans" pitchFamily="34" charset="-120"/>
              </a:rPr>
              <a:t>URL Length</a:t>
            </a:r>
            <a:endParaRPr lang="en-US" sz="950" dirty="0"/>
          </a:p>
          <a:p>
            <a:pPr marL="193040" indent="-193040" algn="l">
              <a:lnSpc>
                <a:spcPct val="124000"/>
              </a:lnSpc>
              <a:buSzPct val="100000"/>
              <a:buChar char="•"/>
            </a:pPr>
            <a:r>
              <a:rPr lang="en-US" sz="950" dirty="0">
                <a:solidFill>
                  <a:srgbClr val="FFFFFF"/>
                </a:solidFill>
                <a:latin typeface="Martel Sans" pitchFamily="34" charset="0"/>
                <a:ea typeface="Martel Sans" pitchFamily="34" charset="-122"/>
                <a:cs typeface="Martel Sans" pitchFamily="34" charset="-120"/>
              </a:rPr>
              <a:t>Number of Dots</a:t>
            </a:r>
            <a:endParaRPr lang="en-US" sz="950" dirty="0"/>
          </a:p>
          <a:p>
            <a:pPr marL="193040" indent="-193040" algn="l">
              <a:lnSpc>
                <a:spcPct val="124000"/>
              </a:lnSpc>
              <a:buSzPct val="100000"/>
              <a:buChar char="•"/>
            </a:pPr>
            <a:r>
              <a:rPr lang="en-US" sz="950" dirty="0">
                <a:solidFill>
                  <a:srgbClr val="FFFFFF"/>
                </a:solidFill>
                <a:latin typeface="Martel Sans" pitchFamily="34" charset="0"/>
                <a:ea typeface="Martel Sans" pitchFamily="34" charset="-122"/>
                <a:cs typeface="Martel Sans" pitchFamily="34" charset="-120"/>
              </a:rPr>
              <a:t>Number of Digits</a:t>
            </a:r>
            <a:endParaRPr lang="en-US" sz="950" dirty="0"/>
          </a:p>
          <a:p>
            <a:pPr marL="193040" indent="-193040" algn="l">
              <a:lnSpc>
                <a:spcPct val="124000"/>
              </a:lnSpc>
              <a:buSzPct val="100000"/>
              <a:buChar char="•"/>
            </a:pPr>
            <a:r>
              <a:rPr lang="en-US" sz="950" dirty="0">
                <a:solidFill>
                  <a:srgbClr val="FFFFFF"/>
                </a:solidFill>
                <a:latin typeface="Martel Sans" pitchFamily="34" charset="0"/>
                <a:ea typeface="Martel Sans" pitchFamily="34" charset="-122"/>
                <a:cs typeface="Martel Sans" pitchFamily="34" charset="-120"/>
              </a:rPr>
              <a:t>HTTPS Presence</a:t>
            </a:r>
            <a:endParaRPr lang="en-US" sz="950" dirty="0"/>
          </a:p>
          <a:p>
            <a:pPr marL="193040" indent="-193040" algn="l">
              <a:lnSpc>
                <a:spcPct val="124000"/>
              </a:lnSpc>
              <a:buSzPct val="100000"/>
              <a:buChar char="•"/>
            </a:pPr>
            <a:r>
              <a:rPr lang="en-US" sz="950" dirty="0">
                <a:solidFill>
                  <a:srgbClr val="FFFFFF"/>
                </a:solidFill>
                <a:latin typeface="Martel Sans" pitchFamily="34" charset="0"/>
                <a:ea typeface="Martel Sans" pitchFamily="34" charset="-122"/>
                <a:cs typeface="Martel Sans" pitchFamily="34" charset="-120"/>
              </a:rPr>
              <a:t>Special Characters</a:t>
            </a:r>
            <a:endParaRPr lang="en-US" sz="950" dirty="0"/>
          </a:p>
          <a:p>
            <a:pPr marL="193040" indent="-193040" algn="l">
              <a:lnSpc>
                <a:spcPct val="124000"/>
              </a:lnSpc>
              <a:buSzPct val="100000"/>
              <a:buChar char="•"/>
            </a:pPr>
            <a:r>
              <a:rPr lang="en-US" sz="950" dirty="0">
                <a:solidFill>
                  <a:srgbClr val="FFFFFF"/>
                </a:solidFill>
                <a:latin typeface="Martel Sans" pitchFamily="34" charset="0"/>
                <a:ea typeface="Martel Sans" pitchFamily="34" charset="-122"/>
                <a:cs typeface="Martel Sans" pitchFamily="34" charset="-120"/>
              </a:rPr>
              <a:t>Suspicious Keywords</a:t>
            </a:r>
            <a:endParaRPr lang="en-US" sz="950" dirty="0"/>
          </a:p>
          <a:p>
            <a:pPr marL="193040" indent="-193040" algn="l">
              <a:lnSpc>
                <a:spcPct val="124000"/>
              </a:lnSpc>
              <a:buSzPct val="100000"/>
              <a:buChar char="•"/>
            </a:pPr>
            <a:r>
              <a:rPr lang="en-US" sz="950" dirty="0">
                <a:solidFill>
                  <a:srgbClr val="FFFFFF"/>
                </a:solidFill>
                <a:latin typeface="Martel Sans" pitchFamily="34" charset="0"/>
                <a:ea typeface="Martel Sans" pitchFamily="34" charset="-122"/>
                <a:cs typeface="Martel Sans" pitchFamily="34" charset="-120"/>
              </a:rPr>
              <a:t>Subdomain Count</a:t>
            </a:r>
            <a:endParaRPr lang="en-US" sz="95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00378" y="905396"/>
            <a:ext cx="2647504" cy="2968079"/>
          </a:xfrm>
          <a:prstGeom prst="rect">
            <a:avLst/>
          </a:prstGeom>
        </p:spPr>
      </p:pic>
      <p:sp>
        <p:nvSpPr>
          <p:cNvPr id="11" name="Text 6"/>
          <p:cNvSpPr/>
          <p:nvPr/>
        </p:nvSpPr>
        <p:spPr>
          <a:xfrm>
            <a:off x="6136481" y="1389757"/>
            <a:ext cx="2375297" cy="190351"/>
          </a:xfrm>
          <a:prstGeom prst="rect">
            <a:avLst/>
          </a:prstGeom>
          <a:noFill/>
          <a:ln/>
        </p:spPr>
        <p:txBody>
          <a:bodyPr wrap="none" lIns="0" tIns="0" rIns="0" bIns="0" rtlCol="0" anchor="t"/>
          <a:lstStyle/>
          <a:p>
            <a:pPr marL="0" indent="0" algn="l">
              <a:lnSpc>
                <a:spcPct val="104000"/>
              </a:lnSpc>
              <a:buNone/>
            </a:pPr>
            <a:r>
              <a:rPr lang="en-US" sz="1150" dirty="0">
                <a:solidFill>
                  <a:srgbClr val="FFFFFF"/>
                </a:solidFill>
                <a:latin typeface="Kanit Light" pitchFamily="34" charset="0"/>
                <a:ea typeface="Kanit Light" pitchFamily="34" charset="-122"/>
                <a:cs typeface="Kanit Light" pitchFamily="34" charset="-120"/>
              </a:rPr>
              <a:t>Methodology</a:t>
            </a:r>
            <a:endParaRPr lang="en-US" sz="1150" dirty="0"/>
          </a:p>
        </p:txBody>
      </p:sp>
      <p:sp>
        <p:nvSpPr>
          <p:cNvPr id="12" name="Text 7"/>
          <p:cNvSpPr/>
          <p:nvPr/>
        </p:nvSpPr>
        <p:spPr>
          <a:xfrm>
            <a:off x="6136481" y="1642914"/>
            <a:ext cx="2375297" cy="1052438"/>
          </a:xfrm>
          <a:prstGeom prst="rect">
            <a:avLst/>
          </a:prstGeom>
          <a:noFill/>
          <a:ln/>
        </p:spPr>
        <p:txBody>
          <a:bodyPr wrap="square" lIns="0" tIns="0" rIns="0" bIns="0" rtlCol="0" anchor="t">
            <a:normAutofit/>
          </a:bodyPr>
          <a:lstStyle/>
          <a:p>
            <a:pPr marL="193040" indent="-193040" algn="l">
              <a:lnSpc>
                <a:spcPct val="124000"/>
              </a:lnSpc>
              <a:buSzPct val="100000"/>
              <a:buFont typeface="+mj-lt"/>
              <a:buAutoNum type="arabicPeriod"/>
            </a:pPr>
            <a:r>
              <a:rPr lang="en-US" sz="950" dirty="0">
                <a:solidFill>
                  <a:srgbClr val="FFFFFF"/>
                </a:solidFill>
                <a:latin typeface="Martel Sans" pitchFamily="34" charset="0"/>
                <a:ea typeface="Martel Sans" pitchFamily="34" charset="-122"/>
                <a:cs typeface="Martel Sans" pitchFamily="34" charset="-120"/>
              </a:rPr>
              <a:t>Data Collection and Preprocessing</a:t>
            </a:r>
            <a:endParaRPr lang="en-US" sz="950" dirty="0"/>
          </a:p>
          <a:p>
            <a:pPr marL="193040" indent="-193040" algn="l">
              <a:lnSpc>
                <a:spcPct val="124000"/>
              </a:lnSpc>
              <a:buSzPct val="100000"/>
              <a:buFont typeface="+mj-lt"/>
              <a:buAutoNum type="arabicPeriod" startAt="2"/>
            </a:pPr>
            <a:r>
              <a:rPr lang="en-US" sz="950" dirty="0">
                <a:solidFill>
                  <a:srgbClr val="FFFFFF"/>
                </a:solidFill>
                <a:latin typeface="Martel Sans" pitchFamily="34" charset="0"/>
                <a:ea typeface="Martel Sans" pitchFamily="34" charset="-122"/>
                <a:cs typeface="Martel Sans" pitchFamily="34" charset="-120"/>
              </a:rPr>
              <a:t>URL Feature Extraction</a:t>
            </a:r>
            <a:endParaRPr lang="en-US" sz="950" dirty="0"/>
          </a:p>
          <a:p>
            <a:pPr marL="193040" indent="-193040" algn="l">
              <a:lnSpc>
                <a:spcPct val="124000"/>
              </a:lnSpc>
              <a:buSzPct val="100000"/>
              <a:buFont typeface="+mj-lt"/>
              <a:buAutoNum type="arabicPeriod" startAt="3"/>
            </a:pPr>
            <a:r>
              <a:rPr lang="en-US" sz="950" dirty="0">
                <a:solidFill>
                  <a:srgbClr val="FFFFFF"/>
                </a:solidFill>
                <a:latin typeface="Martel Sans" pitchFamily="34" charset="0"/>
                <a:ea typeface="Martel Sans" pitchFamily="34" charset="-122"/>
                <a:cs typeface="Martel Sans" pitchFamily="34" charset="-120"/>
              </a:rPr>
              <a:t>Model Training</a:t>
            </a:r>
            <a:endParaRPr lang="en-US" sz="950" dirty="0"/>
          </a:p>
          <a:p>
            <a:pPr marL="193040" indent="-193040" algn="l">
              <a:lnSpc>
                <a:spcPct val="124000"/>
              </a:lnSpc>
              <a:buSzPct val="100000"/>
              <a:buFont typeface="+mj-lt"/>
              <a:buAutoNum type="arabicPeriod" startAt="4"/>
            </a:pPr>
            <a:r>
              <a:rPr lang="en-US" sz="950" dirty="0">
                <a:solidFill>
                  <a:srgbClr val="FFFFFF"/>
                </a:solidFill>
                <a:latin typeface="Martel Sans" pitchFamily="34" charset="0"/>
                <a:ea typeface="Martel Sans" pitchFamily="34" charset="-122"/>
                <a:cs typeface="Martel Sans" pitchFamily="34" charset="-120"/>
              </a:rPr>
              <a:t>Performance Evaluation</a:t>
            </a:r>
            <a:endParaRPr lang="en-US" sz="950" dirty="0"/>
          </a:p>
          <a:p>
            <a:pPr marL="193040" indent="-193040" algn="l">
              <a:lnSpc>
                <a:spcPct val="124000"/>
              </a:lnSpc>
              <a:buSzPct val="100000"/>
              <a:buFont typeface="+mj-lt"/>
              <a:buAutoNum type="arabicPeriod" startAt="5"/>
            </a:pPr>
            <a:r>
              <a:rPr lang="en-US" sz="950" dirty="0">
                <a:solidFill>
                  <a:srgbClr val="FFFFFF"/>
                </a:solidFill>
                <a:latin typeface="Martel Sans" pitchFamily="34" charset="0"/>
                <a:ea typeface="Martel Sans" pitchFamily="34" charset="-122"/>
                <a:cs typeface="Martel Sans" pitchFamily="34" charset="-120"/>
              </a:rPr>
              <a:t>Best Model Selection</a:t>
            </a:r>
            <a:endParaRPr lang="en-US" sz="950" dirty="0"/>
          </a:p>
        </p:txBody>
      </p:sp>
      <p:sp>
        <p:nvSpPr>
          <p:cNvPr id="13" name="Shape 8"/>
          <p:cNvSpPr/>
          <p:nvPr/>
        </p:nvSpPr>
        <p:spPr>
          <a:xfrm>
            <a:off x="496119" y="4021634"/>
            <a:ext cx="8151763" cy="14288"/>
          </a:xfrm>
          <a:prstGeom prst="roundRect">
            <a:avLst>
              <a:gd name="adj" fmla="val 59998"/>
            </a:avLst>
          </a:prstGeom>
          <a:solidFill>
            <a:srgbClr val="FFFFFF">
              <a:alpha val="50000"/>
            </a:srgbClr>
          </a:solidFill>
          <a:ln/>
        </p:spPr>
      </p:sp>
      <p:sp>
        <p:nvSpPr>
          <p:cNvPr id="14" name="Text 9"/>
          <p:cNvSpPr/>
          <p:nvPr/>
        </p:nvSpPr>
        <p:spPr>
          <a:xfrm>
            <a:off x="496119" y="4223370"/>
            <a:ext cx="8151763" cy="190351"/>
          </a:xfrm>
          <a:prstGeom prst="rect">
            <a:avLst/>
          </a:prstGeom>
          <a:noFill/>
          <a:ln/>
        </p:spPr>
        <p:txBody>
          <a:bodyPr wrap="none" lIns="0" tIns="0" rIns="0" bIns="0" rtlCol="0" anchor="t"/>
          <a:lstStyle/>
          <a:p>
            <a:pPr marL="0" indent="0" algn="l">
              <a:lnSpc>
                <a:spcPct val="104000"/>
              </a:lnSpc>
              <a:buNone/>
            </a:pPr>
            <a:r>
              <a:rPr lang="en-US" sz="1150" dirty="0">
                <a:solidFill>
                  <a:srgbClr val="FFFFFF"/>
                </a:solidFill>
                <a:latin typeface="Kanit Light" pitchFamily="34" charset="0"/>
                <a:ea typeface="Kanit Light" pitchFamily="34" charset="-122"/>
                <a:cs typeface="Kanit Light" pitchFamily="34" charset="-120"/>
              </a:rPr>
              <a:t>Workflow</a:t>
            </a:r>
            <a:endParaRPr lang="en-US" sz="1150" dirty="0"/>
          </a:p>
        </p:txBody>
      </p:sp>
      <p:sp>
        <p:nvSpPr>
          <p:cNvPr id="15" name="Text 10"/>
          <p:cNvSpPr/>
          <p:nvPr/>
        </p:nvSpPr>
        <p:spPr>
          <a:xfrm>
            <a:off x="496119" y="4570735"/>
            <a:ext cx="8608963" cy="181198"/>
          </a:xfrm>
          <a:prstGeom prst="rect">
            <a:avLst/>
          </a:prstGeom>
          <a:noFill/>
          <a:ln/>
        </p:spPr>
        <p:txBody>
          <a:bodyPr wrap="none" lIns="0" tIns="0" rIns="0" bIns="0" rtlCol="0" anchor="t"/>
          <a:lstStyle/>
          <a:p>
            <a:pPr marL="0" indent="0" algn="l">
              <a:lnSpc>
                <a:spcPct val="124000"/>
              </a:lnSpc>
              <a:buNone/>
            </a:pPr>
            <a:r>
              <a:rPr lang="en-US" sz="950" dirty="0">
                <a:solidFill>
                  <a:srgbClr val="FFFFFF"/>
                </a:solidFill>
                <a:latin typeface="Martel Sans" pitchFamily="34" charset="0"/>
                <a:ea typeface="Martel Sans" pitchFamily="34" charset="-122"/>
                <a:cs typeface="Martel Sans" pitchFamily="34" charset="-120"/>
              </a:rPr>
              <a:t>Dataset → Feature Extraction → Model Training → Model Evaluation → Best Model Selection → Deployment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96119" y="1262211"/>
            <a:ext cx="3053135" cy="2619077"/>
          </a:xfrm>
          <a:prstGeom prst="rect">
            <a:avLst/>
          </a:prstGeom>
        </p:spPr>
      </p:pic>
      <p:sp>
        <p:nvSpPr>
          <p:cNvPr id="3" name="Text 0"/>
          <p:cNvSpPr/>
          <p:nvPr/>
        </p:nvSpPr>
        <p:spPr>
          <a:xfrm>
            <a:off x="3899892" y="1636216"/>
            <a:ext cx="4752677" cy="354360"/>
          </a:xfrm>
          <a:prstGeom prst="rect">
            <a:avLst/>
          </a:prstGeom>
          <a:noFill/>
          <a:ln/>
        </p:spPr>
        <p:txBody>
          <a:bodyPr wrap="none" lIns="0" tIns="0" rIns="0" bIns="0" rtlCol="0" anchor="t"/>
          <a:lstStyle/>
          <a:p>
            <a:pPr marL="0" indent="0" algn="l">
              <a:lnSpc>
                <a:spcPct val="104000"/>
              </a:lnSpc>
              <a:buNone/>
            </a:pPr>
            <a:r>
              <a:rPr lang="en-US" sz="2200" dirty="0">
                <a:solidFill>
                  <a:srgbClr val="FFFFFF"/>
                </a:solidFill>
                <a:latin typeface="Kanit Light" pitchFamily="34" charset="0"/>
                <a:ea typeface="Kanit Light" pitchFamily="34" charset="-122"/>
                <a:cs typeface="Kanit Light" pitchFamily="34" charset="-120"/>
              </a:rPr>
              <a:t>Logistic Regression</a:t>
            </a:r>
            <a:endParaRPr lang="en-US" sz="2200" dirty="0"/>
          </a:p>
        </p:txBody>
      </p:sp>
      <p:sp>
        <p:nvSpPr>
          <p:cNvPr id="4" name="Text 1"/>
          <p:cNvSpPr/>
          <p:nvPr/>
        </p:nvSpPr>
        <p:spPr>
          <a:xfrm>
            <a:off x="3899892" y="2132335"/>
            <a:ext cx="4752677" cy="1389162"/>
          </a:xfrm>
          <a:prstGeom prst="rect">
            <a:avLst/>
          </a:prstGeom>
          <a:noFill/>
          <a:ln/>
        </p:spPr>
        <p:txBody>
          <a:bodyPr wrap="square" lIns="0" tIns="0" rIns="0" bIns="0" rtlCol="0" anchor="t"/>
          <a:lstStyle/>
          <a:p>
            <a:pPr marL="0" indent="0" algn="l">
              <a:lnSpc>
                <a:spcPct val="133000"/>
              </a:lnSpc>
              <a:spcAft>
                <a:spcPts val="1000"/>
              </a:spcAft>
              <a:buNone/>
            </a:pPr>
            <a:r>
              <a:rPr lang="en-US" sz="1100" b="1" dirty="0">
                <a:solidFill>
                  <a:srgbClr val="FFFFFF"/>
                </a:solidFill>
                <a:latin typeface="Martel Sans Bold" pitchFamily="34" charset="0"/>
                <a:ea typeface="Martel Sans Bold" pitchFamily="34" charset="-122"/>
                <a:cs typeface="Martel Sans Bold" pitchFamily="34" charset="-120"/>
              </a:rPr>
              <a:t>Performance</a:t>
            </a:r>
            <a:r>
              <a:rPr lang="en-US" sz="1100" dirty="0">
                <a:solidFill>
                  <a:srgbClr val="FFFFFF"/>
                </a:solidFill>
                <a:latin typeface="Martel Sans" pitchFamily="34" charset="0"/>
                <a:ea typeface="Martel Sans" pitchFamily="34" charset="-122"/>
                <a:cs typeface="Martel Sans" pitchFamily="34" charset="-120"/>
              </a:rPr>
              <a:t>: Train Acc 84.76% • Test Acc 83.95% • ROC AUC 92.88%</a:t>
            </a:r>
            <a:endParaRPr lang="en-US" sz="1100" dirty="0"/>
          </a:p>
          <a:p>
            <a:pPr marL="0" indent="0" algn="l">
              <a:lnSpc>
                <a:spcPct val="133000"/>
              </a:lnSpc>
              <a:spcAft>
                <a:spcPts val="1000"/>
              </a:spcAft>
              <a:buNone/>
            </a:pPr>
            <a:r>
              <a:rPr lang="en-US" sz="1100" dirty="0">
                <a:solidFill>
                  <a:srgbClr val="FFFFFF"/>
                </a:solidFill>
                <a:latin typeface="Martel Sans" pitchFamily="34" charset="0"/>
                <a:ea typeface="Martel Sans" pitchFamily="34" charset="-122"/>
                <a:cs typeface="Martel Sans" pitchFamily="34" charset="-120"/>
              </a:rPr>
              <a:t>Fast linear baseline offering interpretable coefficients for URL-derived features. Good starting point for feature importance and quick inference in production.</a:t>
            </a:r>
            <a:endParaRPr lang="en-US" sz="1100" dirty="0"/>
          </a:p>
          <a:p>
            <a:pPr marL="0" indent="0" algn="l">
              <a:lnSpc>
                <a:spcPct val="133000"/>
              </a:lnSpc>
              <a:buNone/>
            </a:pPr>
            <a:r>
              <a:rPr lang="en-US" sz="1100" dirty="0">
                <a:solidFill>
                  <a:srgbClr val="FFFFFF"/>
                </a:solidFill>
                <a:latin typeface="Martel Sans" pitchFamily="34" charset="0"/>
                <a:ea typeface="Martel Sans" pitchFamily="34" charset="-122"/>
                <a:cs typeface="Martel Sans" pitchFamily="34" charset="-120"/>
              </a:rPr>
              <a:t>Use case: low-latency screening and explainability for analyst review.</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96119" y="806425"/>
            <a:ext cx="2906018" cy="2492871"/>
          </a:xfrm>
          <a:prstGeom prst="rect">
            <a:avLst/>
          </a:prstGeom>
        </p:spPr>
      </p:pic>
      <p:sp>
        <p:nvSpPr>
          <p:cNvPr id="3" name="Text 0"/>
          <p:cNvSpPr/>
          <p:nvPr/>
        </p:nvSpPr>
        <p:spPr>
          <a:xfrm>
            <a:off x="496119" y="3364706"/>
            <a:ext cx="3965153" cy="227037"/>
          </a:xfrm>
          <a:prstGeom prst="rect">
            <a:avLst/>
          </a:prstGeom>
          <a:noFill/>
          <a:ln/>
        </p:spPr>
        <p:txBody>
          <a:bodyPr wrap="none" lIns="0" tIns="0" rIns="0" bIns="0" rtlCol="0" anchor="t"/>
          <a:lstStyle/>
          <a:p>
            <a:pPr marL="0" indent="0" algn="l">
              <a:lnSpc>
                <a:spcPct val="104000"/>
              </a:lnSpc>
              <a:buNone/>
            </a:pPr>
            <a:r>
              <a:rPr lang="en-US" sz="1400" dirty="0">
                <a:solidFill>
                  <a:srgbClr val="FFFFFF"/>
                </a:solidFill>
                <a:latin typeface="Kanit Light" pitchFamily="34" charset="0"/>
                <a:ea typeface="Kanit Light" pitchFamily="34" charset="-122"/>
                <a:cs typeface="Kanit Light" pitchFamily="34" charset="-120"/>
              </a:rPr>
              <a:t>K-Nearest Neighbors (KNN)</a:t>
            </a:r>
            <a:endParaRPr lang="en-US" sz="1400" dirty="0"/>
          </a:p>
        </p:txBody>
      </p:sp>
      <p:sp>
        <p:nvSpPr>
          <p:cNvPr id="4" name="Text 1"/>
          <p:cNvSpPr/>
          <p:nvPr/>
        </p:nvSpPr>
        <p:spPr>
          <a:xfrm>
            <a:off x="496119" y="3649861"/>
            <a:ext cx="3965153" cy="700311"/>
          </a:xfrm>
          <a:prstGeom prst="rect">
            <a:avLst/>
          </a:prstGeom>
          <a:noFill/>
          <a:ln/>
        </p:spPr>
        <p:txBody>
          <a:bodyPr wrap="square" lIns="0" tIns="0" rIns="0" bIns="0" rtlCol="0" anchor="t"/>
          <a:lstStyle/>
          <a:p>
            <a:pPr marL="0" indent="0" algn="l">
              <a:lnSpc>
                <a:spcPct val="109000"/>
              </a:lnSpc>
              <a:spcAft>
                <a:spcPts val="400"/>
              </a:spcAft>
              <a:buNone/>
            </a:pPr>
            <a:r>
              <a:rPr lang="en-US" sz="700" b="1" dirty="0">
                <a:solidFill>
                  <a:srgbClr val="FFFFFF"/>
                </a:solidFill>
                <a:latin typeface="Martel Sans Bold" pitchFamily="34" charset="0"/>
                <a:ea typeface="Martel Sans Bold" pitchFamily="34" charset="-122"/>
                <a:cs typeface="Martel Sans Bold" pitchFamily="34" charset="-120"/>
              </a:rPr>
              <a:t>Performance</a:t>
            </a:r>
            <a:r>
              <a:rPr lang="en-US" sz="700" dirty="0">
                <a:solidFill>
                  <a:srgbClr val="FFFFFF"/>
                </a:solidFill>
                <a:latin typeface="Martel Sans" pitchFamily="34" charset="0"/>
                <a:ea typeface="Martel Sans" pitchFamily="34" charset="-122"/>
                <a:cs typeface="Martel Sans" pitchFamily="34" charset="-120"/>
              </a:rPr>
              <a:t>: Train Acc 84.76% • Test Acc 83.95% • ROC AUC 92.88%</a:t>
            </a:r>
            <a:endParaRPr lang="en-US" sz="700" dirty="0"/>
          </a:p>
          <a:p>
            <a:pPr marL="0" indent="0" algn="l">
              <a:lnSpc>
                <a:spcPct val="109000"/>
              </a:lnSpc>
              <a:spcAft>
                <a:spcPts val="400"/>
              </a:spcAft>
              <a:buNone/>
            </a:pPr>
            <a:r>
              <a:rPr lang="en-US" sz="700" dirty="0">
                <a:solidFill>
                  <a:srgbClr val="FFFFFF"/>
                </a:solidFill>
                <a:latin typeface="Martel Sans" pitchFamily="34" charset="0"/>
                <a:ea typeface="Martel Sans" pitchFamily="34" charset="-122"/>
                <a:cs typeface="Martel Sans" pitchFamily="34" charset="-120"/>
              </a:rPr>
              <a:t>Distance-based classifier that labels URLs by proximity in feature space. Effective when feature scaling and relevant distance metrics are tuned.</a:t>
            </a:r>
            <a:endParaRPr lang="en-US" sz="700" dirty="0"/>
          </a:p>
          <a:p>
            <a:pPr marL="0" indent="0" algn="l">
              <a:lnSpc>
                <a:spcPct val="109000"/>
              </a:lnSpc>
              <a:buNone/>
            </a:pPr>
            <a:r>
              <a:rPr lang="en-US" sz="700" dirty="0">
                <a:solidFill>
                  <a:srgbClr val="FFFFFF"/>
                </a:solidFill>
                <a:latin typeface="Martel Sans" pitchFamily="34" charset="0"/>
                <a:ea typeface="Martel Sans" pitchFamily="34" charset="-122"/>
                <a:cs typeface="Martel Sans" pitchFamily="34" charset="-120"/>
              </a:rPr>
              <a:t>Strengths: simplicity, non-parametric behavior. Weaknesses: inference cost at scale, sensitivity to noisy features.</a:t>
            </a:r>
            <a:endParaRPr lang="en-US" sz="700" dirty="0"/>
          </a:p>
        </p:txBody>
      </p:sp>
      <p:sp>
        <p:nvSpPr>
          <p:cNvPr id="5" name="Text 2"/>
          <p:cNvSpPr/>
          <p:nvPr/>
        </p:nvSpPr>
        <p:spPr>
          <a:xfrm>
            <a:off x="4687491" y="536153"/>
            <a:ext cx="3965153" cy="290587"/>
          </a:xfrm>
          <a:prstGeom prst="rect">
            <a:avLst/>
          </a:prstGeom>
          <a:noFill/>
          <a:ln/>
        </p:spPr>
        <p:txBody>
          <a:bodyPr wrap="square" lIns="0" tIns="0" rIns="0" bIns="0" rtlCol="0" anchor="t"/>
          <a:lstStyle/>
          <a:p>
            <a:pPr marL="0" indent="0" algn="l">
              <a:lnSpc>
                <a:spcPct val="109000"/>
              </a:lnSpc>
              <a:spcAft>
                <a:spcPts val="400"/>
              </a:spcAft>
              <a:buNone/>
            </a:pPr>
            <a:endParaRPr lang="en-US" sz="700" dirty="0"/>
          </a:p>
        </p:txBody>
      </p:sp>
      <p:pic>
        <p:nvPicPr>
          <p:cNvPr id="6" name="Image 1" descr="preencoded.png"/>
          <p:cNvPicPr>
            <a:picLocks noChangeAspect="1"/>
          </p:cNvPicPr>
          <p:nvPr/>
        </p:nvPicPr>
        <p:blipFill>
          <a:blip r:embed="rId4"/>
          <a:stretch>
            <a:fillRect/>
          </a:stretch>
        </p:blipFill>
        <p:spPr>
          <a:xfrm>
            <a:off x="4687491" y="892150"/>
            <a:ext cx="2906018" cy="2492871"/>
          </a:xfrm>
          <a:prstGeom prst="rect">
            <a:avLst/>
          </a:prstGeom>
        </p:spPr>
      </p:pic>
      <p:sp>
        <p:nvSpPr>
          <p:cNvPr id="7" name="Text 3"/>
          <p:cNvSpPr/>
          <p:nvPr/>
        </p:nvSpPr>
        <p:spPr>
          <a:xfrm>
            <a:off x="4687491" y="3450431"/>
            <a:ext cx="3965153" cy="227037"/>
          </a:xfrm>
          <a:prstGeom prst="rect">
            <a:avLst/>
          </a:prstGeom>
          <a:noFill/>
          <a:ln/>
        </p:spPr>
        <p:txBody>
          <a:bodyPr wrap="none" lIns="0" tIns="0" rIns="0" bIns="0" rtlCol="0" anchor="t"/>
          <a:lstStyle/>
          <a:p>
            <a:pPr marL="0" indent="0" algn="l">
              <a:lnSpc>
                <a:spcPct val="104000"/>
              </a:lnSpc>
              <a:buNone/>
            </a:pPr>
            <a:r>
              <a:rPr lang="en-US" sz="1400" dirty="0">
                <a:solidFill>
                  <a:srgbClr val="FFFFFF"/>
                </a:solidFill>
                <a:latin typeface="Kanit Light" pitchFamily="34" charset="0"/>
                <a:ea typeface="Kanit Light" pitchFamily="34" charset="-122"/>
                <a:cs typeface="Kanit Light" pitchFamily="34" charset="-120"/>
              </a:rPr>
              <a:t>Gaussian Naive Bayes</a:t>
            </a:r>
            <a:endParaRPr lang="en-US" sz="1400" dirty="0"/>
          </a:p>
        </p:txBody>
      </p:sp>
      <p:sp>
        <p:nvSpPr>
          <p:cNvPr id="8" name="Text 4"/>
          <p:cNvSpPr/>
          <p:nvPr/>
        </p:nvSpPr>
        <p:spPr>
          <a:xfrm>
            <a:off x="4687491" y="3735586"/>
            <a:ext cx="3965153" cy="871761"/>
          </a:xfrm>
          <a:prstGeom prst="rect">
            <a:avLst/>
          </a:prstGeom>
          <a:noFill/>
          <a:ln/>
        </p:spPr>
        <p:txBody>
          <a:bodyPr wrap="square" lIns="0" tIns="0" rIns="0" bIns="0" rtlCol="0" anchor="t"/>
          <a:lstStyle/>
          <a:p>
            <a:pPr marL="0" indent="0" algn="l">
              <a:lnSpc>
                <a:spcPct val="109000"/>
              </a:lnSpc>
              <a:spcAft>
                <a:spcPts val="400"/>
              </a:spcAft>
              <a:buNone/>
            </a:pPr>
            <a:r>
              <a:rPr lang="en-US" sz="700" b="1" dirty="0">
                <a:solidFill>
                  <a:srgbClr val="FFFFFF"/>
                </a:solidFill>
                <a:latin typeface="Martel Sans Bold" pitchFamily="34" charset="0"/>
                <a:ea typeface="Martel Sans Bold" pitchFamily="34" charset="-122"/>
                <a:cs typeface="Martel Sans Bold" pitchFamily="34" charset="-120"/>
              </a:rPr>
              <a:t>Performance</a:t>
            </a:r>
            <a:r>
              <a:rPr lang="en-US" sz="700" dirty="0">
                <a:solidFill>
                  <a:srgbClr val="FFFFFF"/>
                </a:solidFill>
                <a:latin typeface="Martel Sans" pitchFamily="34" charset="0"/>
                <a:ea typeface="Martel Sans" pitchFamily="34" charset="-122"/>
                <a:cs typeface="Martel Sans" pitchFamily="34" charset="-120"/>
              </a:rPr>
              <a:t>: Train Acc 84.76% • Test Acc 83.95% • ROC AUC 92.88%</a:t>
            </a:r>
            <a:endParaRPr lang="en-US" sz="700" dirty="0"/>
          </a:p>
          <a:p>
            <a:pPr marL="0" indent="0" algn="l">
              <a:lnSpc>
                <a:spcPct val="109000"/>
              </a:lnSpc>
              <a:spcAft>
                <a:spcPts val="400"/>
              </a:spcAft>
              <a:buNone/>
            </a:pPr>
            <a:r>
              <a:rPr lang="en-US" sz="700" dirty="0">
                <a:solidFill>
                  <a:srgbClr val="FFFFFF"/>
                </a:solidFill>
                <a:latin typeface="Martel Sans" pitchFamily="34" charset="0"/>
                <a:ea typeface="Martel Sans" pitchFamily="34" charset="-122"/>
                <a:cs typeface="Martel Sans" pitchFamily="34" charset="-120"/>
              </a:rPr>
              <a:t>Probabilistic baseline that assumes feature independence and Gaussian-distributed inputs. Often performs well on high-dimensional URL feature sets with fast training and inference.</a:t>
            </a:r>
            <a:endParaRPr lang="en-US" sz="700" dirty="0"/>
          </a:p>
          <a:p>
            <a:pPr marL="0" indent="0" algn="l">
              <a:lnSpc>
                <a:spcPct val="109000"/>
              </a:lnSpc>
              <a:spcAft>
                <a:spcPts val="400"/>
              </a:spcAft>
              <a:buNone/>
            </a:pPr>
            <a:r>
              <a:rPr lang="en-US" sz="700" dirty="0">
                <a:solidFill>
                  <a:srgbClr val="FFFFFF"/>
                </a:solidFill>
                <a:latin typeface="Martel Sans" pitchFamily="34" charset="0"/>
                <a:ea typeface="Martel Sans" pitchFamily="34" charset="-122"/>
                <a:cs typeface="Martel Sans" pitchFamily="34" charset="-120"/>
              </a:rPr>
              <a:t>Strengths: speed, simplicity, strong baseline performance. Weaknesses: independence assumption, reduced accuracy when feature correlations are important.</a:t>
            </a:r>
            <a:endParaRPr lang="en-US" sz="700" dirty="0"/>
          </a:p>
          <a:p>
            <a:pPr marL="0" indent="0" algn="l">
              <a:lnSpc>
                <a:spcPct val="109000"/>
              </a:lnSpc>
              <a:buNone/>
            </a:pPr>
            <a:r>
              <a:rPr lang="en-US" sz="700" dirty="0">
                <a:solidFill>
                  <a:srgbClr val="FFFFFF"/>
                </a:solidFill>
                <a:latin typeface="Martel Sans" pitchFamily="34" charset="0"/>
                <a:ea typeface="Martel Sans" pitchFamily="34" charset="-122"/>
                <a:cs typeface="Martel Sans" pitchFamily="34" charset="-120"/>
              </a:rPr>
              <a:t>Placeholder: Confusion matrix screenshot (user to add).</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96120" y="380943"/>
            <a:ext cx="2618288" cy="2246079"/>
          </a:xfrm>
          <a:prstGeom prst="rect">
            <a:avLst/>
          </a:prstGeom>
        </p:spPr>
      </p:pic>
      <p:pic>
        <p:nvPicPr>
          <p:cNvPr id="3" name="Image 1" descr="preencoded.png"/>
          <p:cNvPicPr>
            <a:picLocks noChangeAspect="1"/>
          </p:cNvPicPr>
          <p:nvPr/>
        </p:nvPicPr>
        <p:blipFill>
          <a:blip r:embed="rId4"/>
          <a:stretch>
            <a:fillRect/>
          </a:stretch>
        </p:blipFill>
        <p:spPr>
          <a:xfrm>
            <a:off x="496120" y="2701363"/>
            <a:ext cx="2618288" cy="2182209"/>
          </a:xfrm>
          <a:prstGeom prst="rect">
            <a:avLst/>
          </a:prstGeom>
        </p:spPr>
      </p:pic>
      <p:sp>
        <p:nvSpPr>
          <p:cNvPr id="4" name="Text 0"/>
          <p:cNvSpPr/>
          <p:nvPr/>
        </p:nvSpPr>
        <p:spPr>
          <a:xfrm>
            <a:off x="3852342" y="1210419"/>
            <a:ext cx="4800228" cy="232544"/>
          </a:xfrm>
          <a:prstGeom prst="rect">
            <a:avLst/>
          </a:prstGeom>
          <a:noFill/>
          <a:ln/>
        </p:spPr>
        <p:txBody>
          <a:bodyPr wrap="none" lIns="0" tIns="0" rIns="0" bIns="0" rtlCol="0" anchor="t"/>
          <a:lstStyle/>
          <a:p>
            <a:pPr marL="0" indent="0" algn="l">
              <a:lnSpc>
                <a:spcPct val="104000"/>
              </a:lnSpc>
              <a:buNone/>
            </a:pPr>
            <a:r>
              <a:rPr lang="en-US" sz="1450" dirty="0">
                <a:solidFill>
                  <a:srgbClr val="FFFFFF"/>
                </a:solidFill>
                <a:latin typeface="Kanit Light" pitchFamily="34" charset="0"/>
                <a:ea typeface="Kanit Light" pitchFamily="34" charset="-122"/>
                <a:cs typeface="Kanit Light" pitchFamily="34" charset="-120"/>
              </a:rPr>
              <a:t>Decision Tree &amp; Random Forest</a:t>
            </a:r>
            <a:endParaRPr lang="en-US" sz="1450" dirty="0"/>
          </a:p>
        </p:txBody>
      </p:sp>
      <p:sp>
        <p:nvSpPr>
          <p:cNvPr id="5" name="Text 1"/>
          <p:cNvSpPr/>
          <p:nvPr/>
        </p:nvSpPr>
        <p:spPr>
          <a:xfrm>
            <a:off x="3852342" y="1503983"/>
            <a:ext cx="4800228" cy="972443"/>
          </a:xfrm>
          <a:prstGeom prst="rect">
            <a:avLst/>
          </a:prstGeom>
          <a:noFill/>
          <a:ln/>
        </p:spPr>
        <p:txBody>
          <a:bodyPr wrap="square" lIns="0" tIns="0" rIns="0" bIns="0" rtlCol="0" anchor="t">
            <a:normAutofit/>
          </a:bodyPr>
          <a:lstStyle/>
          <a:p>
            <a:pPr marL="0" indent="0" algn="l">
              <a:lnSpc>
                <a:spcPct val="110000"/>
              </a:lnSpc>
              <a:spcAft>
                <a:spcPts val="400"/>
              </a:spcAft>
              <a:buNone/>
            </a:pPr>
            <a:r>
              <a:rPr lang="en-US" sz="700" dirty="0">
                <a:solidFill>
                  <a:srgbClr val="FFFFFF"/>
                </a:solidFill>
                <a:latin typeface="Martel Sans" pitchFamily="34" charset="0"/>
                <a:ea typeface="Martel Sans" pitchFamily="34" charset="-122"/>
                <a:cs typeface="Martel Sans" pitchFamily="34" charset="-120"/>
              </a:rPr>
              <a:t>Decision Tree: interpretable rules derived from URL features — useful for rule extraction and analyst debugging.</a:t>
            </a:r>
            <a:endParaRPr lang="en-US" sz="700" dirty="0"/>
          </a:p>
          <a:p>
            <a:pPr marL="0" indent="0" algn="l">
              <a:lnSpc>
                <a:spcPct val="110000"/>
              </a:lnSpc>
              <a:spcAft>
                <a:spcPts val="400"/>
              </a:spcAft>
              <a:buNone/>
            </a:pPr>
            <a:r>
              <a:rPr lang="en-US" sz="700" dirty="0">
                <a:solidFill>
                  <a:srgbClr val="FFFFFF"/>
                </a:solidFill>
                <a:latin typeface="Martel Sans" pitchFamily="34" charset="0"/>
                <a:ea typeface="Martel Sans" pitchFamily="34" charset="-122"/>
                <a:cs typeface="Martel Sans" pitchFamily="34" charset="-120"/>
              </a:rPr>
              <a:t>Random Forest: ensemble of trees that achieves the highest accuracy rates, improving robustness and reducing overfitting. It offers a strong baseline performance against phishing vectors.</a:t>
            </a:r>
            <a:endParaRPr lang="en-US" sz="700" dirty="0"/>
          </a:p>
          <a:p>
            <a:pPr marL="0" indent="0" algn="l">
              <a:lnSpc>
                <a:spcPct val="110000"/>
              </a:lnSpc>
              <a:buNone/>
            </a:pPr>
            <a:r>
              <a:rPr lang="en-US" sz="700" dirty="0">
                <a:solidFill>
                  <a:srgbClr val="FFFFFF"/>
                </a:solidFill>
                <a:latin typeface="Martel Sans" pitchFamily="34" charset="0"/>
                <a:ea typeface="Martel Sans" pitchFamily="34" charset="-122"/>
                <a:cs typeface="Martel Sans" pitchFamily="34" charset="-120"/>
              </a:rPr>
              <a:t>Random Forest achieved the highest accuracy of 97.87% among all tested models, making it the optimal choice for our phishing detection system. Its </a:t>
            </a:r>
            <a:r>
              <a:rPr lang="en-US" sz="700" dirty="0">
                <a:solidFill>
                  <a:srgbClr val="FFFF00"/>
                </a:solidFill>
                <a:latin typeface="Martel Sans" pitchFamily="34" charset="0"/>
                <a:ea typeface="Martel Sans" pitchFamily="34" charset="-122"/>
                <a:cs typeface="Martel Sans" pitchFamily="34" charset="-120"/>
              </a:rPr>
              <a:t>superior performance in both precision and recall </a:t>
            </a:r>
            <a:r>
              <a:rPr lang="en-US" sz="700" dirty="0">
                <a:solidFill>
                  <a:srgbClr val="FFFFFF"/>
                </a:solidFill>
                <a:latin typeface="Martel Sans" pitchFamily="34" charset="0"/>
                <a:ea typeface="Martel Sans" pitchFamily="34" charset="-122"/>
                <a:cs typeface="Martel Sans" pitchFamily="34" charset="-120"/>
              </a:rPr>
              <a:t>ensures reliable detection of malicious URLs while minimizing false positives.</a:t>
            </a:r>
            <a:endParaRPr lang="en-US" sz="700" dirty="0"/>
          </a:p>
        </p:txBody>
      </p:sp>
      <p:pic>
        <p:nvPicPr>
          <p:cNvPr id="6" name="Image 2" descr="preencoded.png"/>
          <p:cNvPicPr>
            <a:picLocks noChangeAspect="1"/>
          </p:cNvPicPr>
          <p:nvPr/>
        </p:nvPicPr>
        <p:blipFill>
          <a:blip r:embed="rId5"/>
          <a:stretch>
            <a:fillRect/>
          </a:stretch>
        </p:blipFill>
        <p:spPr>
          <a:xfrm>
            <a:off x="3658878" y="2754193"/>
            <a:ext cx="5309113" cy="152655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96119" y="481980"/>
            <a:ext cx="2409899" cy="2067297"/>
          </a:xfrm>
          <a:prstGeom prst="rect">
            <a:avLst/>
          </a:prstGeom>
        </p:spPr>
      </p:pic>
      <p:pic>
        <p:nvPicPr>
          <p:cNvPr id="3" name="Image 1" descr="preencoded.png"/>
          <p:cNvPicPr>
            <a:picLocks noChangeAspect="1"/>
          </p:cNvPicPr>
          <p:nvPr/>
        </p:nvPicPr>
        <p:blipFill>
          <a:blip r:embed="rId4"/>
          <a:stretch>
            <a:fillRect/>
          </a:stretch>
        </p:blipFill>
        <p:spPr>
          <a:xfrm>
            <a:off x="496119" y="2594223"/>
            <a:ext cx="2409899" cy="2067297"/>
          </a:xfrm>
          <a:prstGeom prst="rect">
            <a:avLst/>
          </a:prstGeom>
        </p:spPr>
      </p:pic>
      <p:sp>
        <p:nvSpPr>
          <p:cNvPr id="4" name="Text 0"/>
          <p:cNvSpPr/>
          <p:nvPr/>
        </p:nvSpPr>
        <p:spPr>
          <a:xfrm>
            <a:off x="3835003" y="2129135"/>
            <a:ext cx="4817566" cy="188268"/>
          </a:xfrm>
          <a:prstGeom prst="rect">
            <a:avLst/>
          </a:prstGeom>
          <a:noFill/>
          <a:ln/>
        </p:spPr>
        <p:txBody>
          <a:bodyPr wrap="none" lIns="0" tIns="0" rIns="0" bIns="0" rtlCol="0" anchor="t"/>
          <a:lstStyle/>
          <a:p>
            <a:pPr marL="0" indent="0" algn="l">
              <a:lnSpc>
                <a:spcPct val="104000"/>
              </a:lnSpc>
              <a:buNone/>
            </a:pPr>
            <a:r>
              <a:rPr lang="en-US" sz="1150" dirty="0">
                <a:solidFill>
                  <a:srgbClr val="FFFFFF"/>
                </a:solidFill>
                <a:latin typeface="Kanit Light" pitchFamily="34" charset="0"/>
                <a:ea typeface="Kanit Light" pitchFamily="34" charset="-122"/>
                <a:cs typeface="Kanit Light" pitchFamily="34" charset="-120"/>
              </a:rPr>
              <a:t>Bagging Classifier &amp; Gradient Boosting</a:t>
            </a:r>
            <a:endParaRPr lang="en-US" sz="1150" dirty="0"/>
          </a:p>
        </p:txBody>
      </p:sp>
      <p:sp>
        <p:nvSpPr>
          <p:cNvPr id="5" name="Text 1"/>
          <p:cNvSpPr/>
          <p:nvPr/>
        </p:nvSpPr>
        <p:spPr>
          <a:xfrm>
            <a:off x="3835003" y="2357363"/>
            <a:ext cx="4817566" cy="661020"/>
          </a:xfrm>
          <a:prstGeom prst="rect">
            <a:avLst/>
          </a:prstGeom>
          <a:noFill/>
          <a:ln/>
        </p:spPr>
        <p:txBody>
          <a:bodyPr wrap="square" lIns="0" tIns="0" rIns="0" bIns="0" rtlCol="0" anchor="t">
            <a:normAutofit/>
          </a:bodyPr>
          <a:lstStyle/>
          <a:p>
            <a:pPr marL="0" indent="0" algn="l">
              <a:lnSpc>
                <a:spcPct val="102000"/>
              </a:lnSpc>
              <a:spcAft>
                <a:spcPts val="250"/>
              </a:spcAft>
              <a:buNone/>
            </a:pPr>
            <a:r>
              <a:rPr lang="en-US" sz="550" b="1" dirty="0">
                <a:solidFill>
                  <a:srgbClr val="FFFFFF"/>
                </a:solidFill>
                <a:latin typeface="Martel Sans Bold" pitchFamily="34" charset="0"/>
                <a:ea typeface="Martel Sans Bold" pitchFamily="34" charset="-122"/>
                <a:cs typeface="Martel Sans Bold" pitchFamily="34" charset="-120"/>
              </a:rPr>
              <a:t>Bagging Classifier</a:t>
            </a:r>
            <a:r>
              <a:rPr lang="en-US" sz="550" dirty="0">
                <a:solidFill>
                  <a:srgbClr val="FFFFFF"/>
                </a:solidFill>
                <a:latin typeface="Martel Sans" pitchFamily="34" charset="0"/>
                <a:ea typeface="Martel Sans" pitchFamily="34" charset="-122"/>
                <a:cs typeface="Martel Sans" pitchFamily="34" charset="-120"/>
              </a:rPr>
              <a:t>: Test Accuracy 92.48% • ROC AUC 97.76%. High precision and recall observed — reliable at reducing both false negatives and false positives.</a:t>
            </a:r>
            <a:endParaRPr lang="en-US" sz="550" dirty="0"/>
          </a:p>
          <a:p>
            <a:pPr marL="0" indent="0" algn="l">
              <a:lnSpc>
                <a:spcPct val="102000"/>
              </a:lnSpc>
              <a:spcAft>
                <a:spcPts val="250"/>
              </a:spcAft>
              <a:buNone/>
            </a:pPr>
            <a:r>
              <a:rPr lang="en-US" sz="550" b="1" dirty="0">
                <a:solidFill>
                  <a:srgbClr val="FFFFFF"/>
                </a:solidFill>
                <a:latin typeface="Martel Sans Bold" pitchFamily="34" charset="0"/>
                <a:ea typeface="Martel Sans Bold" pitchFamily="34" charset="-122"/>
                <a:cs typeface="Martel Sans Bold" pitchFamily="34" charset="-120"/>
              </a:rPr>
              <a:t>Gradient Boosting</a:t>
            </a:r>
            <a:r>
              <a:rPr lang="en-US" sz="550" dirty="0">
                <a:solidFill>
                  <a:srgbClr val="FFFFFF"/>
                </a:solidFill>
                <a:latin typeface="Martel Sans" pitchFamily="34" charset="0"/>
                <a:ea typeface="Martel Sans" pitchFamily="34" charset="-122"/>
                <a:cs typeface="Martel Sans" pitchFamily="34" charset="-120"/>
              </a:rPr>
              <a:t>: Comparable top-tier performance (≥92% accuracy) with excellent class separation and calibration after tuning.</a:t>
            </a:r>
            <a:endParaRPr lang="en-US" sz="550" dirty="0"/>
          </a:p>
          <a:p>
            <a:pPr marL="0" indent="0" algn="l">
              <a:lnSpc>
                <a:spcPct val="102000"/>
              </a:lnSpc>
              <a:spcAft>
                <a:spcPts val="250"/>
              </a:spcAft>
              <a:buNone/>
            </a:pPr>
            <a:r>
              <a:rPr lang="en-US" sz="550" dirty="0">
                <a:solidFill>
                  <a:srgbClr val="FFFFFF"/>
                </a:solidFill>
                <a:latin typeface="Martel Sans" pitchFamily="34" charset="0"/>
                <a:ea typeface="Martel Sans" pitchFamily="34" charset="-122"/>
                <a:cs typeface="Martel Sans" pitchFamily="34" charset="-120"/>
              </a:rPr>
              <a:t>Recommendation: prioritize ensemble models (bagging/boosting) for production detection engine; retain simpler models for triage and interpretability.</a:t>
            </a:r>
            <a:endParaRPr lang="en-US" sz="550" dirty="0"/>
          </a:p>
          <a:p>
            <a:pPr marL="0" indent="0" algn="l">
              <a:lnSpc>
                <a:spcPct val="102000"/>
              </a:lnSpc>
              <a:buNone/>
            </a:pPr>
            <a:r>
              <a:rPr lang="en-US" sz="550" dirty="0">
                <a:solidFill>
                  <a:srgbClr val="FFFFFF"/>
                </a:solidFill>
                <a:latin typeface="Martel Sans" pitchFamily="34" charset="0"/>
                <a:ea typeface="Martel Sans" pitchFamily="34" charset="-122"/>
                <a:cs typeface="Martel Sans" pitchFamily="34" charset="-120"/>
              </a:rPr>
              <a:t>Placeholder: Confusion matrices for Bagging and Gradient Boosting (user to add).</a:t>
            </a:r>
            <a:endParaRPr lang="en-US" sz="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389855"/>
            <a:ext cx="8151763" cy="177180"/>
          </a:xfrm>
          <a:prstGeom prst="rect">
            <a:avLst/>
          </a:prstGeom>
          <a:noFill/>
          <a:ln/>
        </p:spPr>
        <p:txBody>
          <a:bodyPr wrap="none" lIns="0" tIns="0" rIns="0" bIns="0" rtlCol="0" anchor="t"/>
          <a:lstStyle/>
          <a:p>
            <a:pPr marL="0" indent="0" algn="ctr">
              <a:lnSpc>
                <a:spcPct val="104000"/>
              </a:lnSpc>
              <a:buNone/>
            </a:pPr>
            <a:r>
              <a:rPr lang="en-US" sz="1100" dirty="0">
                <a:solidFill>
                  <a:srgbClr val="FFFFFF"/>
                </a:solidFill>
                <a:latin typeface="Kanit Light" pitchFamily="34" charset="0"/>
                <a:ea typeface="Kanit Light" pitchFamily="34" charset="-122"/>
                <a:cs typeface="Kanit Light" pitchFamily="34" charset="-120"/>
              </a:rPr>
              <a:t>Boosting Algorithms</a:t>
            </a:r>
            <a:endParaRPr lang="en-US" sz="1100" dirty="0"/>
          </a:p>
        </p:txBody>
      </p:sp>
      <p:sp>
        <p:nvSpPr>
          <p:cNvPr id="3" name="Text 1"/>
          <p:cNvSpPr/>
          <p:nvPr/>
        </p:nvSpPr>
        <p:spPr>
          <a:xfrm>
            <a:off x="496119" y="581174"/>
            <a:ext cx="8151763" cy="221456"/>
          </a:xfrm>
          <a:prstGeom prst="rect">
            <a:avLst/>
          </a:prstGeom>
          <a:noFill/>
          <a:ln/>
        </p:spPr>
        <p:txBody>
          <a:bodyPr wrap="none" lIns="0" tIns="0" rIns="0" bIns="0" rtlCol="0" anchor="t"/>
          <a:lstStyle/>
          <a:p>
            <a:pPr marL="0" indent="0" algn="ctr">
              <a:lnSpc>
                <a:spcPct val="104000"/>
              </a:lnSpc>
              <a:buNone/>
            </a:pPr>
            <a:r>
              <a:rPr lang="en-US" sz="1350" dirty="0">
                <a:solidFill>
                  <a:srgbClr val="FFFFFF"/>
                </a:solidFill>
                <a:latin typeface="Kanit Light" pitchFamily="34" charset="0"/>
                <a:ea typeface="Kanit Light" pitchFamily="34" charset="-122"/>
                <a:cs typeface="Kanit Light" pitchFamily="34" charset="-120"/>
              </a:rPr>
              <a:t>Boosting Models</a:t>
            </a:r>
            <a:endParaRPr lang="en-US" sz="1350" dirty="0"/>
          </a:p>
        </p:txBody>
      </p:sp>
      <p:pic>
        <p:nvPicPr>
          <p:cNvPr id="4" name="Image 0" descr="preencoded.png"/>
          <p:cNvPicPr>
            <a:picLocks noChangeAspect="1"/>
          </p:cNvPicPr>
          <p:nvPr/>
        </p:nvPicPr>
        <p:blipFill>
          <a:blip r:embed="rId3"/>
          <a:stretch>
            <a:fillRect/>
          </a:stretch>
        </p:blipFill>
        <p:spPr>
          <a:xfrm>
            <a:off x="496119" y="895573"/>
            <a:ext cx="2268141" cy="1945704"/>
          </a:xfrm>
          <a:prstGeom prst="rect">
            <a:avLst/>
          </a:prstGeom>
        </p:spPr>
      </p:pic>
      <p:pic>
        <p:nvPicPr>
          <p:cNvPr id="5" name="Image 1" descr="preencoded.png"/>
          <p:cNvPicPr>
            <a:picLocks noChangeAspect="1"/>
          </p:cNvPicPr>
          <p:nvPr/>
        </p:nvPicPr>
        <p:blipFill>
          <a:blip r:embed="rId4"/>
          <a:stretch>
            <a:fillRect/>
          </a:stretch>
        </p:blipFill>
        <p:spPr>
          <a:xfrm>
            <a:off x="496119" y="2881089"/>
            <a:ext cx="2268141" cy="1945704"/>
          </a:xfrm>
          <a:prstGeom prst="rect">
            <a:avLst/>
          </a:prstGeom>
        </p:spPr>
      </p:pic>
      <p:sp>
        <p:nvSpPr>
          <p:cNvPr id="6" name="Text 2"/>
          <p:cNvSpPr/>
          <p:nvPr/>
        </p:nvSpPr>
        <p:spPr>
          <a:xfrm>
            <a:off x="4663232" y="891183"/>
            <a:ext cx="3989412" cy="132904"/>
          </a:xfrm>
          <a:prstGeom prst="rect">
            <a:avLst/>
          </a:prstGeom>
          <a:noFill/>
          <a:ln/>
        </p:spPr>
        <p:txBody>
          <a:bodyPr wrap="none" lIns="0" tIns="0" rIns="0" bIns="0" rtlCol="0" anchor="t"/>
          <a:lstStyle/>
          <a:p>
            <a:pPr marL="0" indent="0" algn="l">
              <a:lnSpc>
                <a:spcPct val="104000"/>
              </a:lnSpc>
              <a:buNone/>
            </a:pPr>
            <a:r>
              <a:rPr lang="en-US" sz="800" dirty="0">
                <a:solidFill>
                  <a:srgbClr val="FFFFFF"/>
                </a:solidFill>
                <a:latin typeface="Kanit Light" pitchFamily="34" charset="0"/>
                <a:ea typeface="Kanit Light" pitchFamily="34" charset="-122"/>
                <a:cs typeface="Kanit Light" pitchFamily="34" charset="-120"/>
              </a:rPr>
              <a:t>XGBoost</a:t>
            </a:r>
            <a:endParaRPr lang="en-US" sz="800" dirty="0"/>
          </a:p>
        </p:txBody>
      </p:sp>
      <p:sp>
        <p:nvSpPr>
          <p:cNvPr id="7" name="Text 3"/>
          <p:cNvSpPr/>
          <p:nvPr/>
        </p:nvSpPr>
        <p:spPr>
          <a:xfrm>
            <a:off x="4663232" y="1059507"/>
            <a:ext cx="3989412" cy="372070"/>
          </a:xfrm>
          <a:prstGeom prst="rect">
            <a:avLst/>
          </a:prstGeom>
          <a:noFill/>
          <a:ln/>
        </p:spPr>
        <p:txBody>
          <a:bodyPr wrap="square" lIns="0" tIns="0" rIns="0" bIns="0" rtlCol="0" anchor="t"/>
          <a:lstStyle/>
          <a:p>
            <a:pPr marL="0" indent="0" algn="l">
              <a:lnSpc>
                <a:spcPct val="100000"/>
              </a:lnSpc>
              <a:spcAft>
                <a:spcPts val="250"/>
              </a:spcAft>
              <a:buNone/>
            </a:pPr>
            <a:r>
              <a:rPr lang="en-US" sz="550" b="1" dirty="0">
                <a:solidFill>
                  <a:srgbClr val="FFFFFF"/>
                </a:solidFill>
                <a:latin typeface="Martel Sans Bold" pitchFamily="34" charset="0"/>
                <a:ea typeface="Martel Sans Bold" pitchFamily="34" charset="-122"/>
                <a:cs typeface="Martel Sans Bold" pitchFamily="34" charset="-120"/>
              </a:rPr>
              <a:t>Performance</a:t>
            </a:r>
            <a:r>
              <a:rPr lang="en-US" sz="550" dirty="0">
                <a:solidFill>
                  <a:srgbClr val="FFFFFF"/>
                </a:solidFill>
                <a:latin typeface="Martel Sans" pitchFamily="34" charset="0"/>
                <a:ea typeface="Martel Sans" pitchFamily="34" charset="-122"/>
                <a:cs typeface="Martel Sans" pitchFamily="34" charset="-120"/>
              </a:rPr>
              <a:t>: Test Accuracy 92.48% • ROC AUC 97.86%</a:t>
            </a:r>
            <a:endParaRPr lang="en-US" sz="550" dirty="0"/>
          </a:p>
          <a:p>
            <a:pPr marL="0" indent="0" algn="l">
              <a:lnSpc>
                <a:spcPct val="100000"/>
              </a:lnSpc>
              <a:buNone/>
            </a:pPr>
            <a:r>
              <a:rPr lang="en-US" sz="550" dirty="0">
                <a:solidFill>
                  <a:srgbClr val="FFFFFF"/>
                </a:solidFill>
                <a:latin typeface="Martel Sans" pitchFamily="34" charset="0"/>
                <a:ea typeface="Martel Sans" pitchFamily="34" charset="-122"/>
                <a:cs typeface="Martel Sans" pitchFamily="34" charset="-120"/>
              </a:rPr>
              <a:t>XGBoost is an advanced ensemble boosting algorithm that combines multiple weak learners to achieve high predictive accuracy. It demonstrated excellent phishing URL detection performance with strong precision, recall, and class separation.</a:t>
            </a:r>
            <a:endParaRPr lang="en-US" sz="550" dirty="0"/>
          </a:p>
        </p:txBody>
      </p:sp>
      <p:sp>
        <p:nvSpPr>
          <p:cNvPr id="8" name="Text 4"/>
          <p:cNvSpPr/>
          <p:nvPr/>
        </p:nvSpPr>
        <p:spPr>
          <a:xfrm>
            <a:off x="4663232" y="1463427"/>
            <a:ext cx="3989412" cy="377279"/>
          </a:xfrm>
          <a:prstGeom prst="rect">
            <a:avLst/>
          </a:prstGeom>
          <a:noFill/>
          <a:ln/>
        </p:spPr>
        <p:txBody>
          <a:bodyPr wrap="square" lIns="0" tIns="0" rIns="0" bIns="0" rtlCol="0" anchor="t">
            <a:normAutofit/>
          </a:bodyPr>
          <a:lstStyle/>
          <a:p>
            <a:pPr marL="111760" indent="-111760" algn="l">
              <a:lnSpc>
                <a:spcPct val="100000"/>
              </a:lnSpc>
              <a:buSzPct val="100000"/>
              <a:buChar char="•"/>
            </a:pPr>
            <a:r>
              <a:rPr lang="en-US" sz="550" dirty="0">
                <a:solidFill>
                  <a:srgbClr val="FFFFFF"/>
                </a:solidFill>
                <a:latin typeface="Martel Sans" pitchFamily="34" charset="0"/>
                <a:ea typeface="Martel Sans" pitchFamily="34" charset="-122"/>
                <a:cs typeface="Martel Sans" pitchFamily="34" charset="-120"/>
              </a:rPr>
              <a:t>High classification accuracy</a:t>
            </a:r>
            <a:endParaRPr lang="en-US" sz="550" dirty="0"/>
          </a:p>
          <a:p>
            <a:pPr marL="111760" indent="-111760" algn="l">
              <a:lnSpc>
                <a:spcPct val="100000"/>
              </a:lnSpc>
              <a:buSzPct val="100000"/>
              <a:buChar char="•"/>
            </a:pPr>
            <a:r>
              <a:rPr lang="en-US" sz="550" dirty="0">
                <a:solidFill>
                  <a:srgbClr val="FFFFFF"/>
                </a:solidFill>
                <a:latin typeface="Martel Sans" pitchFamily="34" charset="0"/>
                <a:ea typeface="Martel Sans" pitchFamily="34" charset="-122"/>
                <a:cs typeface="Martel Sans" pitchFamily="34" charset="-120"/>
              </a:rPr>
              <a:t>Excellent generalization capability</a:t>
            </a:r>
            <a:endParaRPr lang="en-US" sz="550" dirty="0"/>
          </a:p>
          <a:p>
            <a:pPr marL="111760" indent="-111760" algn="l">
              <a:lnSpc>
                <a:spcPct val="100000"/>
              </a:lnSpc>
              <a:buSzPct val="100000"/>
              <a:buChar char="•"/>
            </a:pPr>
            <a:r>
              <a:rPr lang="en-US" sz="550" dirty="0">
                <a:solidFill>
                  <a:srgbClr val="FFFFFF"/>
                </a:solidFill>
                <a:latin typeface="Martel Sans" pitchFamily="34" charset="0"/>
                <a:ea typeface="Martel Sans" pitchFamily="34" charset="-122"/>
                <a:cs typeface="Martel Sans" pitchFamily="34" charset="-120"/>
              </a:rPr>
              <a:t>Strong resistance to overfitting</a:t>
            </a:r>
            <a:endParaRPr lang="en-US" sz="550" dirty="0"/>
          </a:p>
          <a:p>
            <a:pPr marL="111760" indent="-111760" algn="l">
              <a:lnSpc>
                <a:spcPct val="100000"/>
              </a:lnSpc>
              <a:buSzPct val="100000"/>
              <a:buChar char="•"/>
            </a:pPr>
            <a:r>
              <a:rPr lang="en-US" sz="550" dirty="0">
                <a:solidFill>
                  <a:srgbClr val="FFFFFF"/>
                </a:solidFill>
                <a:latin typeface="Martel Sans" pitchFamily="34" charset="0"/>
                <a:ea typeface="Martel Sans" pitchFamily="34" charset="-122"/>
                <a:cs typeface="Martel Sans" pitchFamily="34" charset="-120"/>
              </a:rPr>
              <a:t>Fast training and prediction</a:t>
            </a:r>
            <a:endParaRPr lang="en-US" sz="550" dirty="0"/>
          </a:p>
        </p:txBody>
      </p:sp>
      <p:sp>
        <p:nvSpPr>
          <p:cNvPr id="9" name="Text 5"/>
          <p:cNvSpPr/>
          <p:nvPr/>
        </p:nvSpPr>
        <p:spPr>
          <a:xfrm>
            <a:off x="4663232" y="1876127"/>
            <a:ext cx="3989412" cy="132904"/>
          </a:xfrm>
          <a:prstGeom prst="rect">
            <a:avLst/>
          </a:prstGeom>
          <a:noFill/>
          <a:ln/>
        </p:spPr>
        <p:txBody>
          <a:bodyPr wrap="none" lIns="0" tIns="0" rIns="0" bIns="0" rtlCol="0" anchor="t"/>
          <a:lstStyle/>
          <a:p>
            <a:pPr marL="0" indent="0" algn="l">
              <a:lnSpc>
                <a:spcPct val="104000"/>
              </a:lnSpc>
              <a:buNone/>
            </a:pPr>
            <a:r>
              <a:rPr lang="en-US" sz="800" dirty="0">
                <a:solidFill>
                  <a:srgbClr val="FFFFFF"/>
                </a:solidFill>
                <a:latin typeface="Kanit Light" pitchFamily="34" charset="0"/>
                <a:ea typeface="Kanit Light" pitchFamily="34" charset="-122"/>
                <a:cs typeface="Kanit Light" pitchFamily="34" charset="-120"/>
              </a:rPr>
              <a:t>AdaBoost</a:t>
            </a:r>
            <a:endParaRPr lang="en-US" sz="800" dirty="0"/>
          </a:p>
        </p:txBody>
      </p:sp>
      <p:sp>
        <p:nvSpPr>
          <p:cNvPr id="10" name="Text 6"/>
          <p:cNvSpPr/>
          <p:nvPr/>
        </p:nvSpPr>
        <p:spPr>
          <a:xfrm>
            <a:off x="4663232" y="2044452"/>
            <a:ext cx="3989412" cy="287015"/>
          </a:xfrm>
          <a:prstGeom prst="rect">
            <a:avLst/>
          </a:prstGeom>
          <a:noFill/>
          <a:ln/>
        </p:spPr>
        <p:txBody>
          <a:bodyPr wrap="square" lIns="0" tIns="0" rIns="0" bIns="0" rtlCol="0" anchor="t"/>
          <a:lstStyle/>
          <a:p>
            <a:pPr marL="0" indent="0" algn="l">
              <a:lnSpc>
                <a:spcPct val="100000"/>
              </a:lnSpc>
              <a:spcAft>
                <a:spcPts val="250"/>
              </a:spcAft>
              <a:buNone/>
            </a:pPr>
            <a:r>
              <a:rPr lang="en-US" sz="550" b="1" dirty="0">
                <a:solidFill>
                  <a:srgbClr val="FFFFFF"/>
                </a:solidFill>
                <a:latin typeface="Martel Sans Bold" pitchFamily="34" charset="0"/>
                <a:ea typeface="Martel Sans Bold" pitchFamily="34" charset="-122"/>
                <a:cs typeface="Martel Sans Bold" pitchFamily="34" charset="-120"/>
              </a:rPr>
              <a:t>Performance</a:t>
            </a:r>
            <a:r>
              <a:rPr lang="en-US" sz="550" dirty="0">
                <a:solidFill>
                  <a:srgbClr val="FFFFFF"/>
                </a:solidFill>
                <a:latin typeface="Martel Sans" pitchFamily="34" charset="0"/>
                <a:ea typeface="Martel Sans" pitchFamily="34" charset="-122"/>
                <a:cs typeface="Martel Sans" pitchFamily="34" charset="-120"/>
              </a:rPr>
              <a:t>: Test Accuracy 86.96% • ROC AUC 94.09%</a:t>
            </a:r>
            <a:endParaRPr lang="en-US" sz="550" dirty="0"/>
          </a:p>
          <a:p>
            <a:pPr marL="0" indent="0" algn="l">
              <a:lnSpc>
                <a:spcPct val="100000"/>
              </a:lnSpc>
              <a:buNone/>
            </a:pPr>
            <a:r>
              <a:rPr lang="en-US" sz="550" dirty="0">
                <a:solidFill>
                  <a:srgbClr val="FFFFFF"/>
                </a:solidFill>
                <a:latin typeface="Martel Sans" pitchFamily="34" charset="0"/>
                <a:ea typeface="Martel Sans" pitchFamily="34" charset="-122"/>
                <a:cs typeface="Martel Sans" pitchFamily="34" charset="-120"/>
              </a:rPr>
              <a:t>AdaBoost improves model performance by iteratively focusing on previously misclassified samples. It provides efficient boosting with relatively low computational cost and reliable phishing detection capability.</a:t>
            </a:r>
            <a:endParaRPr lang="en-US" sz="550" dirty="0"/>
          </a:p>
        </p:txBody>
      </p:sp>
      <p:sp>
        <p:nvSpPr>
          <p:cNvPr id="11" name="Text 7"/>
          <p:cNvSpPr/>
          <p:nvPr/>
        </p:nvSpPr>
        <p:spPr>
          <a:xfrm>
            <a:off x="4663232" y="2363316"/>
            <a:ext cx="3989412" cy="377279"/>
          </a:xfrm>
          <a:prstGeom prst="rect">
            <a:avLst/>
          </a:prstGeom>
          <a:noFill/>
          <a:ln/>
        </p:spPr>
        <p:txBody>
          <a:bodyPr wrap="square" lIns="0" tIns="0" rIns="0" bIns="0" rtlCol="0" anchor="t">
            <a:normAutofit/>
          </a:bodyPr>
          <a:lstStyle/>
          <a:p>
            <a:pPr marL="111760" indent="-111760" algn="l">
              <a:lnSpc>
                <a:spcPct val="100000"/>
              </a:lnSpc>
              <a:buSzPct val="100000"/>
              <a:buChar char="•"/>
            </a:pPr>
            <a:r>
              <a:rPr lang="en-US" sz="550" dirty="0">
                <a:solidFill>
                  <a:srgbClr val="FFFFFF"/>
                </a:solidFill>
                <a:latin typeface="Martel Sans" pitchFamily="34" charset="0"/>
                <a:ea typeface="Martel Sans" pitchFamily="34" charset="-122"/>
                <a:cs typeface="Martel Sans" pitchFamily="34" charset="-120"/>
              </a:rPr>
              <a:t>Lightweight boosting approach</a:t>
            </a:r>
            <a:endParaRPr lang="en-US" sz="550" dirty="0"/>
          </a:p>
          <a:p>
            <a:pPr marL="111760" indent="-111760" algn="l">
              <a:lnSpc>
                <a:spcPct val="100000"/>
              </a:lnSpc>
              <a:buSzPct val="100000"/>
              <a:buChar char="•"/>
            </a:pPr>
            <a:r>
              <a:rPr lang="en-US" sz="550" dirty="0">
                <a:solidFill>
                  <a:srgbClr val="FFFFFF"/>
                </a:solidFill>
                <a:latin typeface="Martel Sans" pitchFamily="34" charset="0"/>
                <a:ea typeface="Martel Sans" pitchFamily="34" charset="-122"/>
                <a:cs typeface="Martel Sans" pitchFamily="34" charset="-120"/>
              </a:rPr>
              <a:t>Fast execution</a:t>
            </a:r>
            <a:endParaRPr lang="en-US" sz="550" dirty="0"/>
          </a:p>
          <a:p>
            <a:pPr marL="111760" indent="-111760" algn="l">
              <a:lnSpc>
                <a:spcPct val="100000"/>
              </a:lnSpc>
              <a:buSzPct val="100000"/>
              <a:buChar char="•"/>
            </a:pPr>
            <a:r>
              <a:rPr lang="en-US" sz="550" dirty="0">
                <a:solidFill>
                  <a:srgbClr val="FFFFFF"/>
                </a:solidFill>
                <a:latin typeface="Martel Sans" pitchFamily="34" charset="0"/>
                <a:ea typeface="Martel Sans" pitchFamily="34" charset="-122"/>
                <a:cs typeface="Martel Sans" pitchFamily="34" charset="-120"/>
              </a:rPr>
              <a:t>Improved classification performance over basic models</a:t>
            </a:r>
            <a:endParaRPr lang="en-US" sz="550" dirty="0"/>
          </a:p>
          <a:p>
            <a:pPr marL="111760" indent="-111760" algn="l">
              <a:lnSpc>
                <a:spcPct val="100000"/>
              </a:lnSpc>
              <a:buSzPct val="100000"/>
              <a:buChar char="•"/>
            </a:pPr>
            <a:r>
              <a:rPr lang="en-US" sz="550" dirty="0">
                <a:solidFill>
                  <a:srgbClr val="FFFFFF"/>
                </a:solidFill>
                <a:latin typeface="Martel Sans" pitchFamily="34" charset="0"/>
                <a:ea typeface="Martel Sans" pitchFamily="34" charset="-122"/>
                <a:cs typeface="Martel Sans" pitchFamily="34" charset="-120"/>
              </a:rPr>
              <a:t>Easy to implement and interpret</a:t>
            </a:r>
            <a:endParaRPr lang="en-US" sz="550" dirty="0"/>
          </a:p>
        </p:txBody>
      </p:sp>
      <p:sp>
        <p:nvSpPr>
          <p:cNvPr id="12" name="Text 8"/>
          <p:cNvSpPr/>
          <p:nvPr/>
        </p:nvSpPr>
        <p:spPr>
          <a:xfrm>
            <a:off x="4663232" y="2776017"/>
            <a:ext cx="3989412" cy="132904"/>
          </a:xfrm>
          <a:prstGeom prst="rect">
            <a:avLst/>
          </a:prstGeom>
          <a:noFill/>
          <a:ln/>
        </p:spPr>
        <p:txBody>
          <a:bodyPr wrap="none" lIns="0" tIns="0" rIns="0" bIns="0" rtlCol="0" anchor="t"/>
          <a:lstStyle/>
          <a:p>
            <a:pPr marL="0" indent="0" algn="l">
              <a:lnSpc>
                <a:spcPct val="104000"/>
              </a:lnSpc>
              <a:buNone/>
            </a:pPr>
            <a:r>
              <a:rPr lang="en-US" sz="800" dirty="0">
                <a:solidFill>
                  <a:srgbClr val="FFFFFF"/>
                </a:solidFill>
                <a:latin typeface="Kanit Light" pitchFamily="34" charset="0"/>
                <a:ea typeface="Kanit Light" pitchFamily="34" charset="-122"/>
                <a:cs typeface="Kanit Light" pitchFamily="34" charset="-120"/>
              </a:rPr>
              <a:t>Recommendation</a:t>
            </a:r>
            <a:endParaRPr lang="en-US" sz="800" dirty="0"/>
          </a:p>
        </p:txBody>
      </p:sp>
      <p:sp>
        <p:nvSpPr>
          <p:cNvPr id="13" name="Text 9"/>
          <p:cNvSpPr/>
          <p:nvPr/>
        </p:nvSpPr>
        <p:spPr>
          <a:xfrm>
            <a:off x="4663232" y="2944341"/>
            <a:ext cx="3989412" cy="372070"/>
          </a:xfrm>
          <a:prstGeom prst="rect">
            <a:avLst/>
          </a:prstGeom>
          <a:noFill/>
          <a:ln/>
        </p:spPr>
        <p:txBody>
          <a:bodyPr wrap="square" lIns="0" tIns="0" rIns="0" bIns="0" rtlCol="0" anchor="t">
            <a:normAutofit/>
          </a:bodyPr>
          <a:lstStyle/>
          <a:p>
            <a:pPr marL="0" indent="0" algn="l">
              <a:lnSpc>
                <a:spcPct val="100000"/>
              </a:lnSpc>
              <a:spcAft>
                <a:spcPts val="250"/>
              </a:spcAft>
              <a:buNone/>
            </a:pPr>
            <a:r>
              <a:rPr lang="en-US" sz="550" dirty="0">
                <a:solidFill>
                  <a:srgbClr val="FFFFFF"/>
                </a:solidFill>
                <a:latin typeface="Martel Sans" pitchFamily="34" charset="0"/>
                <a:ea typeface="Martel Sans" pitchFamily="34" charset="-122"/>
                <a:cs typeface="Martel Sans" pitchFamily="34" charset="-120"/>
              </a:rPr>
              <a:t>XGBoost outperformed AdaBoost across most evaluation metrics and ranked among the best-performing models in the phishing detection system. Its strong predictive power makes it a valuable candidate for real-world phishing detection applications.</a:t>
            </a:r>
            <a:endParaRPr lang="en-US" sz="550" dirty="0"/>
          </a:p>
          <a:p>
            <a:pPr marL="0" indent="0" algn="l">
              <a:lnSpc>
                <a:spcPct val="100000"/>
              </a:lnSpc>
              <a:buNone/>
            </a:pPr>
            <a:r>
              <a:rPr lang="en-US" sz="550" i="1" dirty="0">
                <a:solidFill>
                  <a:srgbClr val="FFFFFF"/>
                </a:solidFill>
                <a:latin typeface="Martel Sans" pitchFamily="34" charset="0"/>
                <a:ea typeface="Martel Sans" pitchFamily="34" charset="-122"/>
                <a:cs typeface="Martel Sans" pitchFamily="34" charset="-120"/>
              </a:rPr>
              <a:t>Placeholder: Confusion matrices for XGBoost and AdaBoost (user to add).</a:t>
            </a:r>
            <a:endParaRPr lang="en-US" sz="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393576"/>
            <a:ext cx="8151763" cy="204862"/>
          </a:xfrm>
          <a:prstGeom prst="rect">
            <a:avLst/>
          </a:prstGeom>
          <a:noFill/>
          <a:ln/>
        </p:spPr>
        <p:txBody>
          <a:bodyPr wrap="none" lIns="0" tIns="0" rIns="0" bIns="0" rtlCol="0" anchor="t"/>
          <a:lstStyle/>
          <a:p>
            <a:pPr marL="0" indent="0" algn="l">
              <a:lnSpc>
                <a:spcPct val="104000"/>
              </a:lnSpc>
              <a:buNone/>
            </a:pPr>
            <a:r>
              <a:rPr lang="en-US" sz="1250" dirty="0">
                <a:solidFill>
                  <a:srgbClr val="FFFFFF"/>
                </a:solidFill>
                <a:latin typeface="Kanit Light" pitchFamily="34" charset="0"/>
                <a:ea typeface="Kanit Light" pitchFamily="34" charset="-122"/>
                <a:cs typeface="Kanit Light" pitchFamily="34" charset="-120"/>
              </a:rPr>
              <a:t>Deployment: Streamlit Front-End &amp; Results UI</a:t>
            </a:r>
            <a:endParaRPr lang="en-US" sz="1250" dirty="0"/>
          </a:p>
        </p:txBody>
      </p:sp>
      <p:sp>
        <p:nvSpPr>
          <p:cNvPr id="3" name="Text 1"/>
          <p:cNvSpPr/>
          <p:nvPr/>
        </p:nvSpPr>
        <p:spPr>
          <a:xfrm>
            <a:off x="496119" y="693167"/>
            <a:ext cx="8608963" cy="103436"/>
          </a:xfrm>
          <a:prstGeom prst="rect">
            <a:avLst/>
          </a:prstGeom>
          <a:noFill/>
          <a:ln/>
        </p:spPr>
        <p:txBody>
          <a:bodyPr wrap="none" lIns="0" tIns="0" rIns="0" bIns="0" rtlCol="0" anchor="t"/>
          <a:lstStyle/>
          <a:p>
            <a:pPr marL="0" indent="0" algn="l">
              <a:lnSpc>
                <a:spcPct val="105000"/>
              </a:lnSpc>
              <a:buNone/>
            </a:pPr>
            <a:r>
              <a:rPr lang="en-US" sz="600" dirty="0">
                <a:solidFill>
                  <a:srgbClr val="FFFFFF"/>
                </a:solidFill>
                <a:latin typeface="Martel Sans" pitchFamily="34" charset="0"/>
                <a:ea typeface="Martel Sans" pitchFamily="34" charset="-122"/>
                <a:cs typeface="Martel Sans" pitchFamily="34" charset="-120"/>
              </a:rPr>
              <a:t>Enter a URL in the Streamlit interface to see a binary verdict, confidence score, and the key indicators behind the prediction.</a:t>
            </a:r>
            <a:endParaRPr lang="en-US" sz="600" dirty="0"/>
          </a:p>
        </p:txBody>
      </p:sp>
      <p:pic>
        <p:nvPicPr>
          <p:cNvPr id="4" name="Image 0" descr="preencoded.png"/>
          <p:cNvPicPr>
            <a:picLocks noChangeAspect="1"/>
          </p:cNvPicPr>
          <p:nvPr/>
        </p:nvPicPr>
        <p:blipFill>
          <a:blip r:embed="rId3"/>
          <a:stretch>
            <a:fillRect/>
          </a:stretch>
        </p:blipFill>
        <p:spPr>
          <a:xfrm>
            <a:off x="496119" y="903163"/>
            <a:ext cx="3975943" cy="2402830"/>
          </a:xfrm>
          <a:prstGeom prst="rect">
            <a:avLst/>
          </a:prstGeom>
        </p:spPr>
      </p:pic>
      <p:pic>
        <p:nvPicPr>
          <p:cNvPr id="5" name="Image 1" descr="preencoded.png"/>
          <p:cNvPicPr>
            <a:picLocks noChangeAspect="1"/>
          </p:cNvPicPr>
          <p:nvPr/>
        </p:nvPicPr>
        <p:blipFill>
          <a:blip r:embed="rId4"/>
          <a:stretch>
            <a:fillRect/>
          </a:stretch>
        </p:blipFill>
        <p:spPr>
          <a:xfrm>
            <a:off x="4676701" y="903163"/>
            <a:ext cx="3975943" cy="2388766"/>
          </a:xfrm>
          <a:prstGeom prst="rect">
            <a:avLst/>
          </a:prstGeom>
        </p:spPr>
      </p:pic>
      <p:sp>
        <p:nvSpPr>
          <p:cNvPr id="6" name="Shape 2"/>
          <p:cNvSpPr/>
          <p:nvPr/>
        </p:nvSpPr>
        <p:spPr>
          <a:xfrm>
            <a:off x="496119" y="3465835"/>
            <a:ext cx="451247" cy="124495"/>
          </a:xfrm>
          <a:prstGeom prst="roundRect">
            <a:avLst>
              <a:gd name="adj" fmla="val 22120"/>
            </a:avLst>
          </a:prstGeom>
          <a:solidFill>
            <a:srgbClr val="1D302C"/>
          </a:solidFill>
          <a:ln/>
        </p:spPr>
      </p:sp>
      <p:pic>
        <p:nvPicPr>
          <p:cNvPr id="7" name="Image 2" descr="preencoded.png"/>
          <p:cNvPicPr>
            <a:picLocks noChangeAspect="1"/>
          </p:cNvPicPr>
          <p:nvPr/>
        </p:nvPicPr>
        <p:blipFill>
          <a:blip r:embed="rId5"/>
          <a:stretch>
            <a:fillRect/>
          </a:stretch>
        </p:blipFill>
        <p:spPr>
          <a:xfrm>
            <a:off x="545232" y="3495303"/>
            <a:ext cx="65559" cy="65559"/>
          </a:xfrm>
          <a:prstGeom prst="rect">
            <a:avLst/>
          </a:prstGeom>
        </p:spPr>
      </p:pic>
      <p:sp>
        <p:nvSpPr>
          <p:cNvPr id="8" name="Text 3"/>
          <p:cNvSpPr/>
          <p:nvPr/>
        </p:nvSpPr>
        <p:spPr>
          <a:xfrm>
            <a:off x="643533" y="3490392"/>
            <a:ext cx="711919" cy="75381"/>
          </a:xfrm>
          <a:prstGeom prst="rect">
            <a:avLst/>
          </a:prstGeom>
          <a:noFill/>
          <a:ln/>
        </p:spPr>
        <p:txBody>
          <a:bodyPr wrap="none" lIns="0" tIns="0" rIns="0" bIns="0" rtlCol="0" anchor="t"/>
          <a:lstStyle/>
          <a:p>
            <a:pPr marL="0" indent="0" algn="l">
              <a:lnSpc>
                <a:spcPct val="96000"/>
              </a:lnSpc>
              <a:buNone/>
            </a:pPr>
            <a:r>
              <a:rPr lang="en-US" sz="500" dirty="0">
                <a:solidFill>
                  <a:srgbClr val="FFFFFF"/>
                </a:solidFill>
                <a:latin typeface="Martel Sans" pitchFamily="34" charset="0"/>
                <a:ea typeface="Martel Sans" pitchFamily="34" charset="-122"/>
                <a:cs typeface="Martel Sans" pitchFamily="34" charset="-120"/>
              </a:rPr>
              <a:t>SECURE</a:t>
            </a:r>
            <a:endParaRPr lang="en-US" sz="500" dirty="0"/>
          </a:p>
        </p:txBody>
      </p:sp>
      <p:sp>
        <p:nvSpPr>
          <p:cNvPr id="9" name="Text 4"/>
          <p:cNvSpPr/>
          <p:nvPr/>
        </p:nvSpPr>
        <p:spPr>
          <a:xfrm>
            <a:off x="496119" y="3609231"/>
            <a:ext cx="3975943" cy="153665"/>
          </a:xfrm>
          <a:prstGeom prst="rect">
            <a:avLst/>
          </a:prstGeom>
          <a:noFill/>
          <a:ln/>
        </p:spPr>
        <p:txBody>
          <a:bodyPr wrap="none" lIns="0" tIns="0" rIns="0" bIns="0" rtlCol="0" anchor="t"/>
          <a:lstStyle/>
          <a:p>
            <a:pPr marL="0" indent="0" algn="l">
              <a:lnSpc>
                <a:spcPct val="104000"/>
              </a:lnSpc>
              <a:buNone/>
            </a:pPr>
            <a:r>
              <a:rPr lang="en-US" sz="950" dirty="0">
                <a:solidFill>
                  <a:srgbClr val="FFFFFF"/>
                </a:solidFill>
                <a:latin typeface="Kanit Light" pitchFamily="34" charset="0"/>
                <a:ea typeface="Kanit Light" pitchFamily="34" charset="-122"/>
                <a:cs typeface="Kanit Light" pitchFamily="34" charset="-120"/>
              </a:rPr>
              <a:t>Safe / Secure Link</a:t>
            </a:r>
            <a:endParaRPr lang="en-US" sz="950" dirty="0"/>
          </a:p>
        </p:txBody>
      </p:sp>
      <p:sp>
        <p:nvSpPr>
          <p:cNvPr id="10" name="Text 5"/>
          <p:cNvSpPr/>
          <p:nvPr/>
        </p:nvSpPr>
        <p:spPr>
          <a:xfrm>
            <a:off x="496119" y="3810223"/>
            <a:ext cx="3975943" cy="249510"/>
          </a:xfrm>
          <a:prstGeom prst="rect">
            <a:avLst/>
          </a:prstGeom>
          <a:noFill/>
          <a:ln/>
        </p:spPr>
        <p:txBody>
          <a:bodyPr wrap="square" lIns="0" tIns="0" rIns="0" bIns="0" rtlCol="0" anchor="t"/>
          <a:lstStyle/>
          <a:p>
            <a:pPr marL="0" indent="0" algn="l">
              <a:lnSpc>
                <a:spcPct val="105000"/>
              </a:lnSpc>
              <a:spcAft>
                <a:spcPts val="300"/>
              </a:spcAft>
              <a:buNone/>
            </a:pPr>
            <a:r>
              <a:rPr lang="en-US" sz="600" b="1" dirty="0">
                <a:solidFill>
                  <a:srgbClr val="FFFFFF"/>
                </a:solidFill>
                <a:latin typeface="Martel Sans Bold" pitchFamily="34" charset="0"/>
                <a:ea typeface="Martel Sans Bold" pitchFamily="34" charset="-122"/>
                <a:cs typeface="Martel Sans Bold" pitchFamily="34" charset="-120"/>
              </a:rPr>
              <a:t>Verdict:</a:t>
            </a:r>
            <a:r>
              <a:rPr lang="en-US" sz="600" dirty="0">
                <a:solidFill>
                  <a:srgbClr val="FFFFFF"/>
                </a:solidFill>
                <a:latin typeface="Martel Sans" pitchFamily="34" charset="0"/>
                <a:ea typeface="Martel Sans" pitchFamily="34" charset="-122"/>
                <a:cs typeface="Martel Sans" pitchFamily="34" charset="-120"/>
              </a:rPr>
              <a:t> Secure</a:t>
            </a:r>
            <a:endParaRPr lang="en-US" sz="600" dirty="0"/>
          </a:p>
          <a:p>
            <a:pPr marL="0" indent="0" algn="l">
              <a:lnSpc>
                <a:spcPct val="105000"/>
              </a:lnSpc>
              <a:buNone/>
            </a:pPr>
            <a:r>
              <a:rPr lang="en-US" sz="600" b="1" dirty="0">
                <a:solidFill>
                  <a:srgbClr val="FFFFFF"/>
                </a:solidFill>
                <a:latin typeface="Martel Sans Bold" pitchFamily="34" charset="0"/>
                <a:ea typeface="Martel Sans Bold" pitchFamily="34" charset="-122"/>
                <a:cs typeface="Martel Sans Bold" pitchFamily="34" charset="-120"/>
              </a:rPr>
              <a:t>Confidence:</a:t>
            </a:r>
            <a:r>
              <a:rPr lang="en-US" sz="600" dirty="0">
                <a:solidFill>
                  <a:srgbClr val="FFFFFF"/>
                </a:solidFill>
                <a:latin typeface="Martel Sans" pitchFamily="34" charset="0"/>
                <a:ea typeface="Martel Sans" pitchFamily="34" charset="-122"/>
                <a:cs typeface="Martel Sans" pitchFamily="34" charset="-120"/>
              </a:rPr>
              <a:t> High</a:t>
            </a:r>
            <a:endParaRPr lang="en-US" sz="600" dirty="0"/>
          </a:p>
        </p:txBody>
      </p:sp>
      <p:sp>
        <p:nvSpPr>
          <p:cNvPr id="11" name="Text 6"/>
          <p:cNvSpPr/>
          <p:nvPr/>
        </p:nvSpPr>
        <p:spPr>
          <a:xfrm>
            <a:off x="496119" y="4102373"/>
            <a:ext cx="3975943" cy="343346"/>
          </a:xfrm>
          <a:prstGeom prst="rect">
            <a:avLst/>
          </a:prstGeom>
          <a:noFill/>
          <a:ln/>
        </p:spPr>
        <p:txBody>
          <a:bodyPr wrap="square" lIns="0" tIns="0" rIns="0" bIns="0" rtlCol="0" anchor="t">
            <a:normAutofit/>
          </a:bodyPr>
          <a:lstStyle/>
          <a:p>
            <a:pPr marL="121920" indent="-121920" algn="l">
              <a:lnSpc>
                <a:spcPct val="105000"/>
              </a:lnSpc>
              <a:buSzPct val="100000"/>
              <a:buChar char="•"/>
            </a:pPr>
            <a:r>
              <a:rPr lang="en-US" sz="600" dirty="0">
                <a:solidFill>
                  <a:srgbClr val="2EAD5B"/>
                </a:solidFill>
                <a:latin typeface="Martel Sans" pitchFamily="34" charset="0"/>
                <a:ea typeface="Martel Sans" pitchFamily="34" charset="-122"/>
                <a:cs typeface="Martel Sans" pitchFamily="34" charset="-120"/>
              </a:rPr>
              <a:t>Green checkmark</a:t>
            </a:r>
            <a:r>
              <a:rPr lang="en-US" sz="600" dirty="0">
                <a:solidFill>
                  <a:srgbClr val="FFFFFF"/>
                </a:solidFill>
                <a:latin typeface="Martel Sans" pitchFamily="34" charset="0"/>
                <a:ea typeface="Martel Sans" pitchFamily="34" charset="-122"/>
                <a:cs typeface="Martel Sans" pitchFamily="34" charset="-120"/>
              </a:rPr>
              <a:t> confirms low risk</a:t>
            </a:r>
            <a:endParaRPr lang="en-US" sz="600" dirty="0"/>
          </a:p>
          <a:p>
            <a:pPr marL="121920" indent="-121920" algn="l">
              <a:lnSpc>
                <a:spcPct val="105000"/>
              </a:lnSpc>
              <a:buSzPct val="100000"/>
              <a:buChar char="•"/>
            </a:pPr>
            <a:r>
              <a:rPr lang="en-US" sz="600" dirty="0">
                <a:solidFill>
                  <a:srgbClr val="FFFFFF"/>
                </a:solidFill>
                <a:latin typeface="Martel Sans" pitchFamily="34" charset="0"/>
                <a:ea typeface="Martel Sans" pitchFamily="34" charset="-122"/>
                <a:cs typeface="Martel Sans" pitchFamily="34" charset="-120"/>
              </a:rPr>
              <a:t>Clean URL patterns and trusted signals</a:t>
            </a:r>
            <a:endParaRPr lang="en-US" sz="600" dirty="0"/>
          </a:p>
          <a:p>
            <a:pPr marL="121920" indent="-121920" algn="l">
              <a:lnSpc>
                <a:spcPct val="105000"/>
              </a:lnSpc>
              <a:buSzPct val="100000"/>
              <a:buChar char="•"/>
            </a:pPr>
            <a:r>
              <a:rPr lang="en-US" sz="600" dirty="0">
                <a:solidFill>
                  <a:srgbClr val="FFFFFF"/>
                </a:solidFill>
                <a:latin typeface="Martel Sans" pitchFamily="34" charset="0"/>
                <a:ea typeface="Martel Sans" pitchFamily="34" charset="-122"/>
                <a:cs typeface="Martel Sans" pitchFamily="34" charset="-120"/>
              </a:rPr>
              <a:t>Positive feature indicators support the decision</a:t>
            </a:r>
            <a:endParaRPr lang="en-US" sz="600" dirty="0"/>
          </a:p>
        </p:txBody>
      </p:sp>
      <p:sp>
        <p:nvSpPr>
          <p:cNvPr id="12" name="Shape 7"/>
          <p:cNvSpPr/>
          <p:nvPr/>
        </p:nvSpPr>
        <p:spPr>
          <a:xfrm>
            <a:off x="4676701" y="3465835"/>
            <a:ext cx="558924" cy="124495"/>
          </a:xfrm>
          <a:prstGeom prst="roundRect">
            <a:avLst>
              <a:gd name="adj" fmla="val 22120"/>
            </a:avLst>
          </a:prstGeom>
          <a:solidFill>
            <a:srgbClr val="1D302C"/>
          </a:solidFill>
          <a:ln/>
        </p:spPr>
      </p:sp>
      <p:pic>
        <p:nvPicPr>
          <p:cNvPr id="13" name="Image 3" descr="preencoded.png"/>
          <p:cNvPicPr>
            <a:picLocks noChangeAspect="1"/>
          </p:cNvPicPr>
          <p:nvPr/>
        </p:nvPicPr>
        <p:blipFill>
          <a:blip r:embed="rId6"/>
          <a:stretch>
            <a:fillRect/>
          </a:stretch>
        </p:blipFill>
        <p:spPr>
          <a:xfrm>
            <a:off x="4725814" y="3495303"/>
            <a:ext cx="65559" cy="65559"/>
          </a:xfrm>
          <a:prstGeom prst="rect">
            <a:avLst/>
          </a:prstGeom>
        </p:spPr>
      </p:pic>
      <p:sp>
        <p:nvSpPr>
          <p:cNvPr id="14" name="Text 8"/>
          <p:cNvSpPr/>
          <p:nvPr/>
        </p:nvSpPr>
        <p:spPr>
          <a:xfrm>
            <a:off x="4824115" y="3490392"/>
            <a:ext cx="819596" cy="75381"/>
          </a:xfrm>
          <a:prstGeom prst="rect">
            <a:avLst/>
          </a:prstGeom>
          <a:noFill/>
          <a:ln/>
        </p:spPr>
        <p:txBody>
          <a:bodyPr wrap="none" lIns="0" tIns="0" rIns="0" bIns="0" rtlCol="0" anchor="t"/>
          <a:lstStyle/>
          <a:p>
            <a:pPr marL="0" indent="0" algn="l">
              <a:lnSpc>
                <a:spcPct val="96000"/>
              </a:lnSpc>
              <a:buNone/>
            </a:pPr>
            <a:r>
              <a:rPr lang="en-US" sz="500" dirty="0">
                <a:solidFill>
                  <a:srgbClr val="FFFFFF"/>
                </a:solidFill>
                <a:latin typeface="Martel Sans" pitchFamily="34" charset="0"/>
                <a:ea typeface="Martel Sans" pitchFamily="34" charset="-122"/>
                <a:cs typeface="Martel Sans" pitchFamily="34" charset="-120"/>
              </a:rPr>
              <a:t>MALICIOUS</a:t>
            </a:r>
            <a:endParaRPr lang="en-US" sz="500" dirty="0"/>
          </a:p>
        </p:txBody>
      </p:sp>
      <p:sp>
        <p:nvSpPr>
          <p:cNvPr id="15" name="Text 9"/>
          <p:cNvSpPr/>
          <p:nvPr/>
        </p:nvSpPr>
        <p:spPr>
          <a:xfrm>
            <a:off x="4676701" y="3609231"/>
            <a:ext cx="3975943" cy="153665"/>
          </a:xfrm>
          <a:prstGeom prst="rect">
            <a:avLst/>
          </a:prstGeom>
          <a:noFill/>
          <a:ln/>
        </p:spPr>
        <p:txBody>
          <a:bodyPr wrap="none" lIns="0" tIns="0" rIns="0" bIns="0" rtlCol="0" anchor="t"/>
          <a:lstStyle/>
          <a:p>
            <a:pPr marL="0" indent="0" algn="l">
              <a:lnSpc>
                <a:spcPct val="104000"/>
              </a:lnSpc>
              <a:buNone/>
            </a:pPr>
            <a:r>
              <a:rPr lang="en-US" sz="950" dirty="0">
                <a:solidFill>
                  <a:srgbClr val="FFFFFF"/>
                </a:solidFill>
                <a:latin typeface="Kanit Light" pitchFamily="34" charset="0"/>
                <a:ea typeface="Kanit Light" pitchFamily="34" charset="-122"/>
                <a:cs typeface="Kanit Light" pitchFamily="34" charset="-120"/>
              </a:rPr>
              <a:t>Unsafe / Malicious Link</a:t>
            </a:r>
            <a:endParaRPr lang="en-US" sz="950" dirty="0"/>
          </a:p>
        </p:txBody>
      </p:sp>
      <p:sp>
        <p:nvSpPr>
          <p:cNvPr id="16" name="Text 10"/>
          <p:cNvSpPr/>
          <p:nvPr/>
        </p:nvSpPr>
        <p:spPr>
          <a:xfrm>
            <a:off x="4676701" y="3810223"/>
            <a:ext cx="3975943" cy="249510"/>
          </a:xfrm>
          <a:prstGeom prst="rect">
            <a:avLst/>
          </a:prstGeom>
          <a:noFill/>
          <a:ln/>
        </p:spPr>
        <p:txBody>
          <a:bodyPr wrap="square" lIns="0" tIns="0" rIns="0" bIns="0" rtlCol="0" anchor="t"/>
          <a:lstStyle/>
          <a:p>
            <a:pPr marL="0" indent="0" algn="l">
              <a:lnSpc>
                <a:spcPct val="105000"/>
              </a:lnSpc>
              <a:spcAft>
                <a:spcPts val="300"/>
              </a:spcAft>
              <a:buNone/>
            </a:pPr>
            <a:r>
              <a:rPr lang="en-US" sz="600" b="1" dirty="0">
                <a:solidFill>
                  <a:srgbClr val="FFFFFF"/>
                </a:solidFill>
                <a:latin typeface="Martel Sans Bold" pitchFamily="34" charset="0"/>
                <a:ea typeface="Martel Sans Bold" pitchFamily="34" charset="-122"/>
                <a:cs typeface="Martel Sans Bold" pitchFamily="34" charset="-120"/>
              </a:rPr>
              <a:t>Verdict:</a:t>
            </a:r>
            <a:r>
              <a:rPr lang="en-US" sz="600" dirty="0">
                <a:solidFill>
                  <a:srgbClr val="FFFFFF"/>
                </a:solidFill>
                <a:latin typeface="Martel Sans" pitchFamily="34" charset="0"/>
                <a:ea typeface="Martel Sans" pitchFamily="34" charset="-122"/>
                <a:cs typeface="Martel Sans" pitchFamily="34" charset="-120"/>
              </a:rPr>
              <a:t> Malicious</a:t>
            </a:r>
            <a:endParaRPr lang="en-US" sz="600" dirty="0"/>
          </a:p>
          <a:p>
            <a:pPr marL="0" indent="0" algn="l">
              <a:lnSpc>
                <a:spcPct val="105000"/>
              </a:lnSpc>
              <a:buNone/>
            </a:pPr>
            <a:r>
              <a:rPr lang="en-US" sz="600" b="1" dirty="0">
                <a:solidFill>
                  <a:srgbClr val="FFFFFF"/>
                </a:solidFill>
                <a:latin typeface="Martel Sans Bold" pitchFamily="34" charset="0"/>
                <a:ea typeface="Martel Sans Bold" pitchFamily="34" charset="-122"/>
                <a:cs typeface="Martel Sans Bold" pitchFamily="34" charset="-120"/>
              </a:rPr>
              <a:t>Confidence:</a:t>
            </a:r>
            <a:r>
              <a:rPr lang="en-US" sz="600" dirty="0">
                <a:solidFill>
                  <a:srgbClr val="FFFFFF"/>
                </a:solidFill>
                <a:latin typeface="Martel Sans" pitchFamily="34" charset="0"/>
                <a:ea typeface="Martel Sans" pitchFamily="34" charset="-122"/>
                <a:cs typeface="Martel Sans" pitchFamily="34" charset="-120"/>
              </a:rPr>
              <a:t> High</a:t>
            </a:r>
            <a:endParaRPr lang="en-US" sz="600" dirty="0"/>
          </a:p>
        </p:txBody>
      </p:sp>
      <p:sp>
        <p:nvSpPr>
          <p:cNvPr id="17" name="Text 11"/>
          <p:cNvSpPr/>
          <p:nvPr/>
        </p:nvSpPr>
        <p:spPr>
          <a:xfrm>
            <a:off x="4676701" y="4102373"/>
            <a:ext cx="3975943" cy="343346"/>
          </a:xfrm>
          <a:prstGeom prst="rect">
            <a:avLst/>
          </a:prstGeom>
          <a:noFill/>
          <a:ln/>
        </p:spPr>
        <p:txBody>
          <a:bodyPr wrap="square" lIns="0" tIns="0" rIns="0" bIns="0" rtlCol="0" anchor="t">
            <a:normAutofit/>
          </a:bodyPr>
          <a:lstStyle/>
          <a:p>
            <a:pPr marL="121920" indent="-121920" algn="l">
              <a:lnSpc>
                <a:spcPct val="105000"/>
              </a:lnSpc>
              <a:buSzPct val="100000"/>
              <a:buChar char="•"/>
            </a:pPr>
            <a:r>
              <a:rPr lang="en-US" sz="600" dirty="0">
                <a:solidFill>
                  <a:srgbClr val="D64545"/>
                </a:solidFill>
                <a:latin typeface="Martel Sans" pitchFamily="34" charset="0"/>
                <a:ea typeface="Martel Sans" pitchFamily="34" charset="-122"/>
                <a:cs typeface="Martel Sans" pitchFamily="34" charset="-120"/>
              </a:rPr>
              <a:t>Red X</a:t>
            </a:r>
            <a:r>
              <a:rPr lang="en-US" sz="600" dirty="0">
                <a:solidFill>
                  <a:srgbClr val="FFFFFF"/>
                </a:solidFill>
                <a:latin typeface="Martel Sans" pitchFamily="34" charset="0"/>
                <a:ea typeface="Martel Sans" pitchFamily="34" charset="-122"/>
                <a:cs typeface="Martel Sans" pitchFamily="34" charset="-120"/>
              </a:rPr>
              <a:t> highlights elevated risk</a:t>
            </a:r>
            <a:endParaRPr lang="en-US" sz="600" dirty="0"/>
          </a:p>
          <a:p>
            <a:pPr marL="121920" indent="-121920" algn="l">
              <a:lnSpc>
                <a:spcPct val="105000"/>
              </a:lnSpc>
              <a:buSzPct val="100000"/>
              <a:buChar char="•"/>
            </a:pPr>
            <a:r>
              <a:rPr lang="en-US" sz="600" dirty="0">
                <a:solidFill>
                  <a:srgbClr val="FFFFFF"/>
                </a:solidFill>
                <a:latin typeface="Martel Sans" pitchFamily="34" charset="0"/>
                <a:ea typeface="Martel Sans" pitchFamily="34" charset="-122"/>
                <a:cs typeface="Martel Sans" pitchFamily="34" charset="-120"/>
              </a:rPr>
              <a:t>Suspicious URL structure and warning signals</a:t>
            </a:r>
            <a:endParaRPr lang="en-US" sz="600" dirty="0"/>
          </a:p>
          <a:p>
            <a:pPr marL="121920" indent="-121920" algn="l">
              <a:lnSpc>
                <a:spcPct val="105000"/>
              </a:lnSpc>
              <a:buSzPct val="100000"/>
              <a:buChar char="•"/>
            </a:pPr>
            <a:r>
              <a:rPr lang="en-US" sz="600" dirty="0">
                <a:solidFill>
                  <a:srgbClr val="FFFFFF"/>
                </a:solidFill>
                <a:latin typeface="Martel Sans" pitchFamily="34" charset="0"/>
                <a:ea typeface="Martel Sans" pitchFamily="34" charset="-122"/>
                <a:cs typeface="Martel Sans" pitchFamily="34" charset="-120"/>
              </a:rPr>
              <a:t>Negative indicators explain the alert</a:t>
            </a:r>
            <a:endParaRPr lang="en-US" sz="600" dirty="0"/>
          </a:p>
        </p:txBody>
      </p:sp>
      <p:sp>
        <p:nvSpPr>
          <p:cNvPr id="18" name="Shape 12"/>
          <p:cNvSpPr/>
          <p:nvPr/>
        </p:nvSpPr>
        <p:spPr>
          <a:xfrm>
            <a:off x="496119" y="4515520"/>
            <a:ext cx="8151763" cy="234330"/>
          </a:xfrm>
          <a:prstGeom prst="roundRect">
            <a:avLst>
              <a:gd name="adj" fmla="val 14690"/>
            </a:avLst>
          </a:prstGeom>
          <a:solidFill>
            <a:srgbClr val="4B3F02"/>
          </a:solidFill>
          <a:ln/>
        </p:spPr>
      </p:sp>
      <p:pic>
        <p:nvPicPr>
          <p:cNvPr id="19" name="Image 4" descr="preencoded.png"/>
          <p:cNvPicPr>
            <a:picLocks noChangeAspect="1"/>
          </p:cNvPicPr>
          <p:nvPr/>
        </p:nvPicPr>
        <p:blipFill>
          <a:blip r:embed="rId7"/>
          <a:stretch>
            <a:fillRect/>
          </a:stretch>
        </p:blipFill>
        <p:spPr>
          <a:xfrm>
            <a:off x="578048" y="4617913"/>
            <a:ext cx="102394" cy="81930"/>
          </a:xfrm>
          <a:prstGeom prst="rect">
            <a:avLst/>
          </a:prstGeom>
        </p:spPr>
      </p:pic>
      <p:sp>
        <p:nvSpPr>
          <p:cNvPr id="20" name="Text 13"/>
          <p:cNvSpPr/>
          <p:nvPr/>
        </p:nvSpPr>
        <p:spPr>
          <a:xfrm>
            <a:off x="762372" y="4583311"/>
            <a:ext cx="8260779" cy="103436"/>
          </a:xfrm>
          <a:prstGeom prst="rect">
            <a:avLst/>
          </a:prstGeom>
          <a:noFill/>
          <a:ln/>
        </p:spPr>
        <p:txBody>
          <a:bodyPr wrap="none" lIns="0" tIns="0" rIns="0" bIns="0" rtlCol="0" anchor="t"/>
          <a:lstStyle/>
          <a:p>
            <a:pPr marL="0" indent="0" algn="l">
              <a:lnSpc>
                <a:spcPct val="105000"/>
              </a:lnSpc>
              <a:buNone/>
            </a:pPr>
            <a:r>
              <a:rPr lang="en-US" sz="600" dirty="0">
                <a:solidFill>
                  <a:srgbClr val="FFFFFF"/>
                </a:solidFill>
                <a:latin typeface="Martel Sans" pitchFamily="34" charset="0"/>
                <a:ea typeface="Martel Sans" pitchFamily="34" charset="-122"/>
                <a:cs typeface="Martel Sans" pitchFamily="34" charset="-120"/>
              </a:rPr>
              <a:t>Use the same input field to compare both outcomes side by side during analyst review.</a:t>
            </a:r>
            <a:endParaRPr lang="en-US" sz="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1251719"/>
            <a:ext cx="8151763" cy="354360"/>
          </a:xfrm>
          <a:prstGeom prst="rect">
            <a:avLst/>
          </a:prstGeom>
          <a:noFill/>
          <a:ln/>
        </p:spPr>
        <p:txBody>
          <a:bodyPr wrap="none" lIns="0" tIns="0" rIns="0" bIns="0" rtlCol="0" anchor="t"/>
          <a:lstStyle/>
          <a:p>
            <a:pPr marL="0" indent="0" algn="l">
              <a:lnSpc>
                <a:spcPct val="104000"/>
              </a:lnSpc>
              <a:buNone/>
            </a:pPr>
            <a:r>
              <a:rPr lang="en-US" sz="2200" dirty="0">
                <a:solidFill>
                  <a:srgbClr val="FFFFFF"/>
                </a:solidFill>
                <a:latin typeface="Kanit Light" pitchFamily="34" charset="0"/>
                <a:ea typeface="Kanit Light" pitchFamily="34" charset="-122"/>
                <a:cs typeface="Kanit Light" pitchFamily="34" charset="-120"/>
              </a:rPr>
              <a:t>Conclusions &amp; Next Steps</a:t>
            </a:r>
            <a:endParaRPr lang="en-US" sz="2200" dirty="0"/>
          </a:p>
        </p:txBody>
      </p:sp>
      <p:sp>
        <p:nvSpPr>
          <p:cNvPr id="3" name="Text 1"/>
          <p:cNvSpPr/>
          <p:nvPr/>
        </p:nvSpPr>
        <p:spPr>
          <a:xfrm>
            <a:off x="496119" y="1818680"/>
            <a:ext cx="8151763" cy="1460004"/>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FFFFFF"/>
                </a:solidFill>
                <a:latin typeface="Martel Sans" pitchFamily="34" charset="0"/>
                <a:ea typeface="Martel Sans" pitchFamily="34" charset="-122"/>
                <a:cs typeface="Martel Sans" pitchFamily="34" charset="-120"/>
              </a:rPr>
              <a:t>Multiple machine learning models were evaluated, including Logistic Regression, KNN, Gaussian Naive Bayes, Decision Tree, Random Forest, Bagging, AdaBoost, XGBoost, and Gradient Boosting. Based on the comparative analysis, Random Forest achieved the best overall performance and was selected as the final deployment model.</a:t>
            </a:r>
            <a:endParaRPr lang="en-US" sz="1100" dirty="0"/>
          </a:p>
          <a:p>
            <a:pPr marL="223520" indent="-223520" algn="l">
              <a:lnSpc>
                <a:spcPct val="133000"/>
              </a:lnSpc>
              <a:buSzPct val="100000"/>
              <a:buChar char="•"/>
            </a:pPr>
            <a:r>
              <a:rPr lang="en-US" sz="1100" dirty="0">
                <a:solidFill>
                  <a:srgbClr val="FFFFFF"/>
                </a:solidFill>
                <a:latin typeface="Martel Sans" pitchFamily="34" charset="0"/>
                <a:ea typeface="Martel Sans" pitchFamily="34" charset="-122"/>
                <a:cs typeface="Martel Sans" pitchFamily="34" charset="-120"/>
              </a:rPr>
              <a:t>Operational plan: integrate ensemble detector into real-time pipeline; use lightweight models for pre-filtering.</a:t>
            </a:r>
            <a:endParaRPr lang="en-US" sz="1100" dirty="0"/>
          </a:p>
          <a:p>
            <a:pPr marL="223520" indent="-223520" algn="l">
              <a:lnSpc>
                <a:spcPct val="133000"/>
              </a:lnSpc>
              <a:buSzPct val="100000"/>
              <a:buChar char="•"/>
            </a:pPr>
            <a:r>
              <a:rPr lang="en-US" sz="1100" dirty="0">
                <a:solidFill>
                  <a:srgbClr val="FFFFFF"/>
                </a:solidFill>
                <a:latin typeface="Martel Sans" pitchFamily="34" charset="0"/>
                <a:ea typeface="Martel Sans" pitchFamily="34" charset="-122"/>
                <a:cs typeface="Martel Sans" pitchFamily="34" charset="-120"/>
              </a:rPr>
              <a:t>Immediate next steps: add your screenshots (confusion matrices, Streamlit UI), run adversarial testing, and deploy monitoring for drift and false-positive trends.</a:t>
            </a:r>
            <a:endParaRPr lang="en-US" sz="1100" dirty="0"/>
          </a:p>
        </p:txBody>
      </p:sp>
      <p:sp>
        <p:nvSpPr>
          <p:cNvPr id="4" name="Text 2"/>
          <p:cNvSpPr/>
          <p:nvPr/>
        </p:nvSpPr>
        <p:spPr>
          <a:xfrm>
            <a:off x="496119" y="3438153"/>
            <a:ext cx="8151763"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FFFFFF"/>
                </a:solidFill>
                <a:latin typeface="Martel Sans" pitchFamily="34" charset="0"/>
                <a:ea typeface="Martel Sans" pitchFamily="34" charset="-122"/>
                <a:cs typeface="Martel Sans" pitchFamily="34" charset="-120"/>
              </a:rPr>
              <a:t>Key metrics to monitor post-deployment: precision, recall, ROC AUC, false positive rate, throughput latency, and model calibration.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1055</Words>
  <Application>Microsoft Office PowerPoint</Application>
  <PresentationFormat>On-screen Show (16:9)</PresentationFormat>
  <Paragraphs>108</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Martel Sans Bold</vt:lpstr>
      <vt:lpstr>Kanit Light</vt:lpstr>
      <vt:lpstr>Martel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Somaya Rashad Ahmed Rashad</cp:lastModifiedBy>
  <cp:revision>4</cp:revision>
  <dcterms:created xsi:type="dcterms:W3CDTF">2026-07-22T22:22:58Z</dcterms:created>
  <dcterms:modified xsi:type="dcterms:W3CDTF">2026-07-23T06:43:33Z</dcterms:modified>
</cp:coreProperties>
</file>